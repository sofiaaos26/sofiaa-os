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Antes de SOFIAA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T. respuesta
(hrs)</c:v>
                  </c:pt>
                  <c:pt idx="1">
                    <c:v>Errores
briefs (%)</c:v>
                  </c:pt>
                  <c:pt idx="2">
                    <c:v>Visibilidad
costos /10</c:v>
                  </c:pt>
                  <c:pt idx="3">
                    <c:v>Trazabilidad
calidad /10</c:v>
                  </c:pt>
                  <c:pt idx="4">
                    <c:v>Centralizacion
datos /10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35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SOFIAA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T. respuesta
(hrs)</c:v>
                  </c:pt>
                  <c:pt idx="1">
                    <c:v>Errores
briefs (%)</c:v>
                  </c:pt>
                  <c:pt idx="2">
                    <c:v>Visibilidad
costos /10</c:v>
                  </c:pt>
                  <c:pt idx="3">
                    <c:v>Trazabilidad
calidad /10</c:v>
                  </c:pt>
                  <c:pt idx="4">
                    <c:v>Centralizacion
datos /10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9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SOFIAA es el sistema de IA conversacional + BI en tiempo real construido para el Area de Produccion Audiovisual del TEC de Monterrey.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ejecutiva de 10 temas. Cubre vision estrategica, arquitectura tecnica, metodologia y el impacto medible.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SOFIAA integra tres capas: IA conversacional con contexto institucional, BI en tiempo real y seguridad basada en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en tres capas completamente serverless, escalable y en produccion desde el Sprint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DMAIC como marco rector. Cada sprint corresponde a una fase del ciclo de mejora continua. El sistema es auditable y trazable.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sprints entregados con metodologia agil + Lean Six Sigma. Cada sprint tiene entregables verificables y build en produccion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 BI es la extension de Business Intelligence integrada en SOFIAA. Los datos viven en Firestore y se consultan en tiempo real desde el mismo sistema sin herramienta externa.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RBAC implementado con Firebase Auth + Firestore. Los roles se leen desde usuarios/{uid}. PageGuard protege rutas, AdminOnly protege componentes.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adaptador Monday.com esta completamente preparado a nivel de codigo pero desactivado con flag de entorno. Se activa cuando el TEC autorice la conexion.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capacidades activas hoy en produccion. El roadmap continua en sprints de 2 semanas con Monday.com como siguiente prioridad.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FMEA formal documentado. 6 de 8 riesgos en estado controlado/mitigado. NPR mas alto: 336 (Groq rate limit) ya controlado con inyeccion condicional.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KPIs de impacto: reduccion de tiempo operativo de 48h a 2h, errores de briefs de 35% a 5%, centralizacion de datos de 1/10 a 10/10.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SOFIAA es un activo institucional. No es un gasto — es infraestructura digital del Area. El costo de operacion post-despliegue es practicamente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SOFIAA esta en produccion con RBAC, BI en tiempo real e IA conversacional. El siguiente hito es Monday.com. El sistema esta listo para escalar institucionalmente.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029200" cy="5029200"/>
          </a:xfrm>
          <a:prstGeom prst="ellipse">
            <a:avLst/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00400"/>
            <a:ext cx="4114800" cy="4114800"/>
          </a:xfrm>
          <a:prstGeom prst="ellipse">
            <a:avLst/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274320"/>
            <a:ext cx="1371600" cy="1371600"/>
          </a:xfrm>
          <a:prstGeom prst="ellipse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2926080" cy="292608"/>
          </a:xfrm>
          <a:prstGeom prst="roundRect">
            <a:avLst>
              <a:gd name="adj" fmla="val 4375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TECNOLOGICO DE MONTERREY  |  AREA DE PRODUCCION AUDIOVISUAL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594360" y="294436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Optimizacion e Inteligencia Artificial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291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Gestion Integral de Produccion Audiovisual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840480"/>
            <a:ext cx="3840480" cy="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977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7B8"/>
                </a:solidFill>
              </a:rPr>
              <a:t>Resumen Ejecutivo Doctoral  |  Junio 2026  |  Version 1.0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Ejecutiva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INDICE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969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SOFIAA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1612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Definicion, vision y propuesta de valor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728216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2821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1737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Tecnologica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192938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Stack, integraciones y flujo de datos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496312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963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505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Lean Six Sigma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6974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DMAIC aplicado al desarrollo agil por sprints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26440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644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32735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del Proyecto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46557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Timeline de sprints y entregables clave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4032504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3250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4041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 BI Extension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42336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Business Intelligence en tiempo real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960120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960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9692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RBAC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76672" y="11612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de acceso basado en roles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1728216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72821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76672" y="1737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Monday.com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19293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Sincronizacion bidireccional y automatizacion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2496312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4963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76672" y="25054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Actuales y Roadmap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76672" y="26974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Lo que hace hoy y hacia donde va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326440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2644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76672" y="32735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Riesgos FMEA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76672" y="34655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Analisis de modos de falla y mitigacion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00600" y="4032504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03250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76672" y="40416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Impacto, ROI y Conclusion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76672" y="4233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Propuesta de valor y proximos pasos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SOFIAA?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VISION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896112"/>
          </a:xfrm>
          <a:prstGeom prst="roundRect">
            <a:avLst>
              <a:gd name="adj" fmla="val 14286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0584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no es un chatbot. Es el sistema nervioso digital del Area de Produccion Audiovisual del TEC.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53896" y="21031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3896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65176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Conversacional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3776" y="2999232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Motor Groq (LLaMA 3) con contexto institucional inyectado. Responde sobre proyectos, costos y equipos con datos en tiempo real.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993392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536" y="21031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8536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265176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28416" y="2999232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Extension TEC BI: dashboards KPIs en vivo, analisis de costos, evaluaciones de calidad, simulador ROI y exportacion PDF.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993392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23176" y="21031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23176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44768" y="265176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Segura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63056" y="2999232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Firebase Auth + RBAC granular. Tres niveles de acceso (admin, director, user) con rutas protegidas y acciones confirmadas.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Tecnologica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STACK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035040" cy="1005840"/>
          </a:xfrm>
          <a:prstGeom prst="roundRect">
            <a:avLst>
              <a:gd name="adj" fmla="val 9091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14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AE6FD"/>
                </a:solidFill>
              </a:rPr>
              <a:t>PRESENTACION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362456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62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Next.js 16 App Router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84248" y="1362456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1362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React 19 + TypeScript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65576" y="1362456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362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Tailwind CSS v4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46904" y="1362456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1362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Recharts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084832"/>
            <a:ext cx="6035040" cy="1005840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A1330"/>
                </a:solidFill>
              </a:rPr>
              <a:t>LOGICA DE NEGOCIO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2920" y="2487168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AuthContext + RBAC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84248" y="2487168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84248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Firestore real-time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65576" y="2487168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65576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Groq AI LLaMA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46904" y="2487168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API Routes Edge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209544"/>
            <a:ext cx="6035040" cy="1005840"/>
          </a:xfrm>
          <a:prstGeom prst="roundRect">
            <a:avLst>
              <a:gd name="adj" fmla="val 9091"/>
            </a:avLst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264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AE6FD"/>
                </a:solidFill>
              </a:rPr>
              <a:t>DATOS &amp; SERVICIOS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2920" y="361188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Firebase Firestore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984248" y="361188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84248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Firebase Auth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65576" y="361188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5576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Vercel CDN Global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46904" y="361188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A1330">
              <a:alpha val="7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Monday.com API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83680" y="960120"/>
            <a:ext cx="2194560" cy="3429000"/>
          </a:xfrm>
          <a:prstGeom prst="roundRect">
            <a:avLst>
              <a:gd name="adj" fmla="val 5833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75120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Metricas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de Plataforma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675120" y="1920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Componentes React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7512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675120" y="2468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Modulos CRUD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75120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&lt;500ms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675120" y="3017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Respuesta IA streaming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7512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675120" y="3566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Serverless + CDN global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675120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675120" y="4114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Firestore real-time sync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Lean Six Sigma + Sprints Agiles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METODOLOGIA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810512" y="114300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AECB"/>
                </a:solidFill>
              </a:rPr>
              <a:t>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60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" y="1298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FFFFF"/>
                </a:solidFill>
              </a:rPr>
              <a:t>DEFINE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7472" y="1691640"/>
            <a:ext cx="1417320" cy="3108960"/>
          </a:xfrm>
          <a:prstGeom prst="roundRect">
            <a:avLst>
              <a:gd name="adj" fmla="val 6452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1810512"/>
            <a:ext cx="1234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Alcance del Area de Produccion Audiovisual. Mapeo VSM. Identificacion de desperdicios digitales y brechas de informacion.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11296" y="114300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AECB"/>
                </a:solidFill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48256" y="96012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960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048256" y="1298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FFFFF"/>
                </a:solidFill>
              </a:rPr>
              <a:t>MEASURE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48256" y="1691640"/>
            <a:ext cx="1417320" cy="3108960"/>
          </a:xfrm>
          <a:prstGeom prst="roundRect">
            <a:avLst>
              <a:gd name="adj" fmla="val 6452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39696" y="1810512"/>
            <a:ext cx="1234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KPIs baseline: tiempo de respuesta, tasa de errores en briefs, costo promedio sin datos centralizados por proyecto.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12080" y="114300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AECB"/>
                </a:solidFill>
              </a:rPr>
              <a:t>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49040" y="96012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960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49040" y="1298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FFFFF"/>
                </a:solidFill>
              </a:rPr>
              <a:t>ANALYZE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49040" y="1691640"/>
            <a:ext cx="1417320" cy="3108960"/>
          </a:xfrm>
          <a:prstGeom prst="roundRect">
            <a:avLst>
              <a:gd name="adj" fmla="val 6452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0" y="1810512"/>
            <a:ext cx="1234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Root cause: fragmentacion de datos, ausencia de BI, procesos manuales y sin trazabilidad formal de calidad.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12864" y="114300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AECB"/>
                </a:solidFill>
              </a:rPr>
              <a:t>&gt;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49824" y="96012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9824" y="960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449824" y="1298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FFFFF"/>
                </a:solidFill>
              </a:rPr>
              <a:t>IMPROVE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49824" y="1691640"/>
            <a:ext cx="1417320" cy="3108960"/>
          </a:xfrm>
          <a:prstGeom prst="roundRect">
            <a:avLst>
              <a:gd name="adj" fmla="val 6452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41264" y="1810512"/>
            <a:ext cx="1234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8 Sprints iterativos con entrega incremental. CI/CD Vercel. Zero downtime. Feature flags por rol de usuario.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50608" y="96012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960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150608" y="1298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FFFFF"/>
                </a:solidFill>
              </a:rPr>
              <a:t>CONTROL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150608" y="1691640"/>
            <a:ext cx="1417320" cy="3108960"/>
          </a:xfrm>
          <a:prstGeom prst="roundRect">
            <a:avLst>
              <a:gd name="adj" fmla="val 6452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42048" y="1810512"/>
            <a:ext cx="1234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RBAC granular, audit trail Firestore, PDF certificado, webhook Monday.com, FMEA documentado con NPR.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0" y="4636008"/>
            <a:ext cx="4572000" cy="256032"/>
          </a:xfrm>
          <a:prstGeom prst="roundRect">
            <a:avLst>
              <a:gd name="adj" fmla="val 35714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4636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8 Sprints completados  |  Zero-defect approach  |  Git CI/CD  |  Lean Six Sigma documentado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del Proyecto — Sprints 0 a 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TIMELINE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7863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15768"/>
            <a:ext cx="228600" cy="2286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170432"/>
            <a:ext cx="0" cy="1545336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987552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87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234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5E"/>
                </a:solidFill>
              </a:rPr>
              <a:t>Fundacion SEE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4320" y="150876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Firebase, Firestore, arquitectura de extensiones y estructura Next.js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45336" y="271576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4208" y="2944368"/>
            <a:ext cx="0" cy="1078992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44168" y="4059936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4059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71016" y="3822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5E"/>
                </a:solidFill>
              </a:rPr>
              <a:t>CRUD Core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71016" y="29626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Modulos Empleados, Proveedores, Clientes con soft-delete y real-time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542032" y="2715768"/>
            <a:ext cx="228600" cy="2286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60904" y="1170432"/>
            <a:ext cx="0" cy="1545336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0864" y="987552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40864" y="987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67712" y="1234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5E"/>
                </a:solidFill>
              </a:rPr>
              <a:t>Briefs &amp; Proy.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267712" y="150876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Briefs con estados, proyectos con asignacion interna y externa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538728" y="2715768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2944368"/>
            <a:ext cx="0" cy="1078992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4059936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4059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64408" y="3822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5E"/>
                </a:solidFill>
              </a:rPr>
              <a:t>Evaluaciones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64408" y="29626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Calificacion 1-5 estrellas por proyecto con metricas de calidad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535424" y="2715768"/>
            <a:ext cx="228600" cy="2286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54296" y="1170432"/>
            <a:ext cx="0" cy="1545336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34256" y="987552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34256" y="987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61104" y="1234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5E"/>
                </a:solidFill>
              </a:rPr>
              <a:t>Analisis + ROI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261104" y="150876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Analisis de costos con Recharts y simulador ROI interactivo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532120" y="271576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50992" y="2944368"/>
            <a:ext cx="0" cy="1078992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30952" y="4059936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0952" y="4059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57800" y="3822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5E"/>
                </a:solidFill>
              </a:rPr>
              <a:t>Dashboard + IA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257800" y="29626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KPIs en vivo, SOFIAA Intelligence Layer con contexto Firestore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528816" y="2715768"/>
            <a:ext cx="228600" cy="2286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47688" y="1170432"/>
            <a:ext cx="0" cy="1545336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27648" y="987552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987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54496" y="1234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5E"/>
                </a:solidFill>
              </a:rPr>
              <a:t>PDF + Toast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254496" y="150876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Exportacion PDF profesional, toast notifications y polish UX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525512" y="2715768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44384" y="2944368"/>
            <a:ext cx="0" cy="1078992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24344" y="4059936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24344" y="4059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51192" y="3822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5E"/>
                </a:solidFill>
              </a:rPr>
              <a:t>RBAC + Polish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251192" y="29626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Firebase Auth, roles granulares, skeletons y confirm dialogs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 BI Extension — Business Intelligence en Tiempo Real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TEC BI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2542032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08176" y="10881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1088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5636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85623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Proyectos activos, calidad promedio, % a tiempo y rentabilidad global. Datos vivos desde Firestore en tiempo real.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63824" y="960120"/>
            <a:ext cx="2542032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24528" y="10881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1088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AN$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55264" y="15636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de Costos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55264" y="185623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Comparativa costo vs. valor por proyecto. PieChart por tipo, BarChart por proveedor o empleado asignado.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0176" y="960120"/>
            <a:ext cx="2542032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0881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088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71616" y="15636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ROI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71616" y="185623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Slider interactivo $10-$1,000 MXN. Curva ROI dinamica, utilidad por unidad y productividad historica vs. actual.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2990088"/>
            <a:ext cx="2542032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08176" y="31181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08176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359359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8912" y="3886200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Sistema 1-5 estrellas por proyecto. Metricas de calidad, creatividad, ejecucion tecnica y alineacion al brief.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63824" y="2990088"/>
            <a:ext cx="2542032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24528" y="31181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24528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55264" y="359359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&amp; Proyectos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55264" y="3886200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CRUD completo con estados, asignacion interna/externa, timeline de entrega y calculo de margen de dias.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80176" y="2990088"/>
            <a:ext cx="2542032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040880" y="31181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71616" y="359359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 PDF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71616" y="3886200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Reportes profesionales de Analisis y Evaluaciones con jsPDF + autotable. Listos para auditoria institucional.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Empresarial — Control de Acceso Basado en Roles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RBAC</a:t>
            </a:r>
            <a:endParaRPr lang="en-US" sz="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960120"/>
          <a:ext cx="6675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18872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Modulo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Admin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Director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Sin sesion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1D1F"/>
                          </a:solidFill>
                        </a:rPr>
                        <a:t>Dashboard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--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1D1F"/>
                          </a:solidFill>
                        </a:rPr>
                        <a:t>Briefs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1D1F"/>
                          </a:solidFill>
                        </a:rPr>
                        <a:t>Proyectos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--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1D1F"/>
                          </a:solidFill>
                        </a:rPr>
                        <a:t>Empleados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--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1D1F"/>
                          </a:solidFill>
                        </a:rPr>
                        <a:t>Proveedores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--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1D1F"/>
                          </a:solidFill>
                        </a:rPr>
                        <a:t>Clientes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--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1D1F"/>
                          </a:solidFill>
                        </a:rPr>
                        <a:t>Evaluaciones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CRUD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--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1D1F"/>
                          </a:solidFill>
                        </a:rPr>
                        <a:t>Analisis + ROI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--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205472" y="960120"/>
            <a:ext cx="1600200" cy="3931920"/>
          </a:xfrm>
          <a:prstGeom prst="roundRect">
            <a:avLst>
              <a:gd name="adj" fmla="val 6857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269480" y="10789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Stack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Seguridad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06640" y="160934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0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818120" y="16093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Firebase Auth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Email + Password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406640" y="224942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18120" y="22494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PageGuard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Rutas protegidas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7406640" y="288950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06640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818120" y="288950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Nav filtrado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por rol activo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406640" y="352958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818120" y="35295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Confirm dialogs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acciones criticas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7406640" y="416966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0664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818120" y="416966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Audit trail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Firestore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Monday.com — Sincronizacion Bidireccional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MONDAY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78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 BI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719072"/>
            <a:ext cx="2231136" cy="365760"/>
          </a:xfrm>
          <a:prstGeom prst="roundRect">
            <a:avLst>
              <a:gd name="adj" fmla="val 20000"/>
            </a:avLst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7556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755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Briefs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2231136"/>
            <a:ext cx="2231136" cy="365760"/>
          </a:xfrm>
          <a:prstGeom prst="roundRect">
            <a:avLst>
              <a:gd name="adj" fmla="val 20000"/>
            </a:avLst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2677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2677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Proyectos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2743200"/>
            <a:ext cx="2231136" cy="365760"/>
          </a:xfrm>
          <a:prstGeom prst="roundRect">
            <a:avLst>
              <a:gd name="adj" fmla="val 20000"/>
            </a:avLst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7797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27797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Empleados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3255264"/>
            <a:ext cx="2231136" cy="365760"/>
          </a:xfrm>
          <a:prstGeom prst="roundRect">
            <a:avLst>
              <a:gd name="adj" fmla="val 20000"/>
            </a:avLst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2918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3291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Evaluaciones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99232" y="2212848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2212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PUSH  &gt;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999232" y="2542032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WEBHOOK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999232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GraphQL API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096512" y="96012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C02050"/>
          </a:solidFill>
          <a:ln w="12700">
            <a:solidFill>
              <a:srgbClr val="C0205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096512" y="1078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261104" y="1719072"/>
            <a:ext cx="2231136" cy="365760"/>
          </a:xfrm>
          <a:prstGeom prst="roundRect">
            <a:avLst>
              <a:gd name="adj" fmla="val 20000"/>
            </a:avLst>
          </a:prstGeom>
          <a:solidFill>
            <a:srgbClr val="9B1540"/>
          </a:solidFill>
          <a:ln w="12700">
            <a:solidFill>
              <a:srgbClr val="9B15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0" y="17556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7A1035"/>
          </a:solidFill>
          <a:ln w="12700">
            <a:solidFill>
              <a:srgbClr val="7A10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63440" y="1755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Boards del Area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61104" y="2231136"/>
            <a:ext cx="2231136" cy="365760"/>
          </a:xfrm>
          <a:prstGeom prst="roundRect">
            <a:avLst>
              <a:gd name="adj" fmla="val 20000"/>
            </a:avLst>
          </a:prstGeom>
          <a:solidFill>
            <a:srgbClr val="9B1540"/>
          </a:solidFill>
          <a:ln w="12700">
            <a:solidFill>
              <a:srgbClr val="9B15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7680" y="22677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7A1035"/>
          </a:solidFill>
          <a:ln w="12700">
            <a:solidFill>
              <a:srgbClr val="7A10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63440" y="22677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Asignaciones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61104" y="2743200"/>
            <a:ext cx="2231136" cy="365760"/>
          </a:xfrm>
          <a:prstGeom prst="roundRect">
            <a:avLst>
              <a:gd name="adj" fmla="val 20000"/>
            </a:avLst>
          </a:prstGeom>
          <a:solidFill>
            <a:srgbClr val="9B1540"/>
          </a:solidFill>
          <a:ln w="12700">
            <a:solidFill>
              <a:srgbClr val="9B15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97680" y="27797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7A1035"/>
          </a:solidFill>
          <a:ln w="12700">
            <a:solidFill>
              <a:srgbClr val="7A10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63440" y="27797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Timelines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261104" y="3255264"/>
            <a:ext cx="2231136" cy="365760"/>
          </a:xfrm>
          <a:prstGeom prst="roundRect">
            <a:avLst>
              <a:gd name="adj" fmla="val 20000"/>
            </a:avLst>
          </a:prstGeom>
          <a:solidFill>
            <a:srgbClr val="9B1540"/>
          </a:solidFill>
          <a:ln w="12700">
            <a:solidFill>
              <a:srgbClr val="9B15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97680" y="32918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7A1035"/>
          </a:solidFill>
          <a:ln w="12700">
            <a:solidFill>
              <a:srgbClr val="7A10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663440" y="3291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Notificaciones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84848" y="960120"/>
            <a:ext cx="2011680" cy="3200400"/>
          </a:xfrm>
          <a:prstGeom prst="roundRect">
            <a:avLst>
              <a:gd name="adj" fmla="val 6364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876288" y="1078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Beneficios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Clave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76288" y="1581912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68312" y="155448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1D1F"/>
                </a:solidFill>
              </a:rPr>
              <a:t>Sin duplicar datos entre sistemas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76288" y="1929384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68312" y="1901952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1D1F"/>
                </a:solidFill>
              </a:rPr>
              <a:t>Actualizacion automatica de estados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76288" y="2276856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68312" y="2249424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1D1F"/>
                </a:solidFill>
              </a:rPr>
              <a:t>Trazabilidad completa por proyecto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76288" y="2624328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68312" y="2596896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1D1F"/>
                </a:solidFill>
              </a:rPr>
              <a:t>SOFIAA consulta Monday via API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876288" y="2971800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68312" y="2944368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1D1F"/>
                </a:solidFill>
              </a:rPr>
              <a:t>Webhooks en tiempo real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876288" y="3319272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68312" y="329184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1D1F"/>
                </a:solidFill>
              </a:rPr>
              <a:t>Plan Enterprise TEC incluye API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876288" y="3666744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68312" y="3639312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1D1F"/>
                </a:solidFill>
              </a:rPr>
              <a:t>Activacion: un flag en .env.local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65760" y="4343400"/>
            <a:ext cx="3657600" cy="27432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ESTADO: PREPARADO  |  Activacion: MONDAY_ENABLED=true  |  Tiempo: 5 min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Actuales y Roadmap Estrategico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ROADMAP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A2B5E"/>
                </a:solidFill>
              </a:rPr>
              <a:t>HOY — CAPACIDADES ACTIVAS EN PRODUCCION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80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IA conversacional con contexto institucional TEC BI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34056" y="1280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Dashboard KPIs en tiempo real (Firestore onSnapshot)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1719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CRUD: Empleados, Proveedores, Clientes, Briefs, Proyectos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4600" y="1810512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4056" y="1719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Evaluaciones de calidad con metricas 1-5 estrellas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49424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1579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Analisis de costos con graficas interactivas Recharts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14600" y="2249424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34056" y="21579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Simulador ROI con proyecciones dinamicas por slider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688336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259689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Exportacion PDF profesional (jsPDF + autotable)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14600" y="2688336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34056" y="259689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RBAC: admin / director / user / sin sesion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127248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30358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Firebase Auth con roles almacenados en Firestore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14600" y="3127248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34056" y="30358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Deploy Vercel con CI/CD automatico desde Git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932688"/>
            <a:ext cx="0" cy="39502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9601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A5E9"/>
                </a:solidFill>
              </a:rPr>
              <a:t>ROADMAP — PROXIMOS SPRINTS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36592" y="1298448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2984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Sprint 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41264" y="1280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Integracion Monday.com activa — sync bidireccional Proyectos y Briefs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1975104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19751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Sprint 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41264" y="19568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Reportes semanales automaticos via email (Resend API)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36592" y="265176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26517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Sprint 10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41264" y="26334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SOFIAA Mobile — PWA optimizada para coordinadores en campo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36592" y="3328416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33284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Sprint 11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41264" y="33101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Analitica Predictiva — regresion para forecasting de costos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36592" y="4005072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40050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Sprint 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41264" y="398678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1D1F"/>
                </a:solidFill>
              </a:rPr>
              <a:t>Integracion ERP TEC — SAP/Banner para carga automatica de presupuestos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de Riesgos — FMEA (Failure Mode and Effect Analysis)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FMEA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47472" y="960120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NPR = Severidad x Probabilidad x Detectabilidad  |  Escala 1-10  |  NPR &lt; 200 = Riesgo controlado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243584"/>
          <a:ext cx="8458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320040"/>
                <a:gridCol w="320040"/>
                <a:gridCol w="320040"/>
                <a:gridCol w="438912"/>
                <a:gridCol w="749808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Modo de Falla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Efecto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NPR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Mitigacion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1D1F"/>
                          </a:solidFill>
                        </a:rPr>
                        <a:t>Rate limit Groq API (TPM)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D1D1F"/>
                          </a:solidFill>
                        </a:rPr>
                        <a:t>Respuestas interrumpidas en chat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336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A8A04"/>
                          </a:solidFill>
                        </a:rPr>
                        <a:t>MITIGADO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Inyeccion solo en /tec-bi/*. Plan upgrade en roadmap.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1D1F"/>
                          </a:solidFill>
                        </a:rPr>
                        <a:t>Perdida conectividad Firebase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D1D1F"/>
                          </a:solidFill>
                        </a:rPr>
                        <a:t>Sin datos en tiempo real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144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CONTROLADO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Firestore offline persistence. Failover automatico.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1D1F"/>
                          </a:solidFill>
                        </a:rPr>
                        <a:t>Acceso no autorizado a roles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D1D1F"/>
                          </a:solidFill>
                        </a:rPr>
                        <a:t>Fuga de datos institucionales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72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CONTROLADO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RBAC + Firebase Auth + PageGuard + nav filtrado.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1D1F"/>
                          </a:solidFill>
                        </a:rPr>
                        <a:t>Saturacion Vercel serverless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D1D1F"/>
                          </a:solidFill>
                        </a:rPr>
                        <a:t>Latencia en API routes (&gt;2s)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140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CONTROLADO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Edge functions. CDN global Vercel. Cache summary.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1D1F"/>
                          </a:solidFill>
                        </a:rPr>
                        <a:t>Desincronizacion Monday-Firestore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D1D1F"/>
                          </a:solidFill>
                        </a:rPr>
                        <a:t>Datos inconsistentes entre sistemas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140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7C3AED"/>
                          </a:solidFill>
                        </a:rPr>
                        <a:t>PREPARADO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Webhook + validacion de integridad. Activacion controlada.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1D1F"/>
                          </a:solidFill>
                        </a:rPr>
                        <a:t>Cambio de proveedor AI (Groq)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D1D1F"/>
                          </a:solidFill>
                        </a:rPr>
                        <a:t>Interrupcion total del servicio IA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120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CONTROLADO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Abstraccion del cliente. Migracion a OpenAI en &lt;2h.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1D1F"/>
                          </a:solidFill>
                        </a:rPr>
                        <a:t>Baja adopcion por usuarios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D1D1F"/>
                          </a:solidFill>
                        </a:rPr>
                        <a:t>ROI reducido. Sistema subutilizado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144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A8A04"/>
                          </a:solidFill>
                        </a:rPr>
                        <a:t>MITIGADO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UX onboarding, login conversacional, roles granulares.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1D1F"/>
                          </a:solidFill>
                        </a:rPr>
                        <a:t>Expiracion token API Monday.com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D1D1F"/>
                          </a:solidFill>
                        </a:rPr>
                        <a:t>Sync interrumpido sin alerta visible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1D1F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210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</a:rPr>
                        <a:t>PENDIENTE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Implementar refresh token + alerta en dashboard admin.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Medible y KPIs del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IMPACTO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1536192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0424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S0-7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" y="14813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Sprints entregados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48256" y="960120"/>
            <a:ext cx="1536192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5184" y="10424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48256" y="14813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048256" y="19202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Componentes React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49040" y="960120"/>
            <a:ext cx="1536192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5968" y="10424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14813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749040" y="19202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Modulos CRUD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49824" y="960120"/>
            <a:ext cx="1536192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16752" y="10424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49824" y="14813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49824" y="19202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Niveles RBAC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50608" y="960120"/>
            <a:ext cx="1536192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17536" y="10424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7536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50608" y="14813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50608" y="19202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Firestore real-time</a:t>
            </a:r>
            <a:endParaRPr lang="en-US" sz="8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347472" y="2423160"/>
          <a:ext cx="8458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 y Retorno de Inversion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274320"/>
            <a:ext cx="685800" cy="237744"/>
          </a:xfrm>
          <a:prstGeom prst="roundRect">
            <a:avLst>
              <a:gd name="adj" fmla="val 38462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2743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ROI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0881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0881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Basadas en Datos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09928"/>
            <a:ext cx="37124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Directivos acceden a KPIs en tiempo real sin reportes manuales. Ciclo de decision de dias a minutos.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0881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21808" y="10881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3168" y="1709928"/>
            <a:ext cx="37124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Eliminacion de duplicidad, errores de captura y hojas de calculo dispersas. Estimado: 15-20 hrs/semana ahorradas.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953512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" y="30815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081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Procesos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37124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Briefs estructurados, evaluaciones estandarizadas y trazabilidad alineada con Lean Six Sigma del TEC.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953512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6350">
            <a:solidFill>
              <a:srgbClr val="DCE8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30815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21808" y="3081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73168" y="3703320"/>
            <a:ext cx="37124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Monday.com, ERP, PWA movil y analitica predictiva se incorporan como sprints adicionales sin rediseno.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4572000"/>
            <a:ext cx="8458200" cy="292608"/>
          </a:xfrm>
          <a:prstGeom prst="roundRect">
            <a:avLst>
              <a:gd name="adj" fmla="val 31250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4572000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Sistema en produccion  |  Inversion: desarrollo interno  |  ROI inmediato  |  Escalable sin costo adicional de licencias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4572000" cy="4572000"/>
          </a:xfrm>
          <a:prstGeom prst="ellipse">
            <a:avLst/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82880"/>
            <a:ext cx="1280160" cy="1280160"/>
          </a:xfrm>
          <a:prstGeom prst="ellipse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7724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es el primer sistema de IA institucional</a:t>
            </a:r>
            <a:endParaRPr lang="en-US" sz="2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la operacion real del TEC.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1463040" cy="1234440"/>
          </a:xfrm>
          <a:prstGeom prst="roundRect">
            <a:avLst>
              <a:gd name="adj" fmla="val 8889"/>
            </a:avLst>
          </a:prstGeom>
          <a:solidFill>
            <a:srgbClr val="243570"/>
          </a:solidFill>
          <a:ln w="12700">
            <a:solidFill>
              <a:srgbClr val="2D40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4984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237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BAE6FD"/>
                </a:solidFill>
              </a:rPr>
              <a:t>Inteligencia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BAE6FD"/>
                </a:solidFill>
              </a:rPr>
              <a:t>Conversacional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67128" y="1938528"/>
            <a:ext cx="1463040" cy="1234440"/>
          </a:xfrm>
          <a:prstGeom prst="roundRect">
            <a:avLst>
              <a:gd name="adj" fmla="val 8889"/>
            </a:avLst>
          </a:prstGeom>
          <a:solidFill>
            <a:srgbClr val="243570"/>
          </a:solidFill>
          <a:ln w="12700">
            <a:solidFill>
              <a:srgbClr val="2D40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79192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67128" y="25237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BAE6FD"/>
                </a:solidFill>
              </a:rPr>
              <a:t>Business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BAE6FD"/>
                </a:solidFill>
              </a:rPr>
              <a:t>Intelligence 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31336" y="1938528"/>
            <a:ext cx="1463040" cy="1234440"/>
          </a:xfrm>
          <a:prstGeom prst="roundRect">
            <a:avLst>
              <a:gd name="adj" fmla="val 8889"/>
            </a:avLst>
          </a:prstGeom>
          <a:solidFill>
            <a:srgbClr val="243570"/>
          </a:solidFill>
          <a:ln w="12700">
            <a:solidFill>
              <a:srgbClr val="2D40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31336" y="25237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BAE6FD"/>
                </a:solidFill>
              </a:rPr>
              <a:t>Seguridad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BAE6FD"/>
                </a:solidFill>
              </a:rPr>
              <a:t>Empresarial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95544" y="1938528"/>
            <a:ext cx="1463040" cy="1234440"/>
          </a:xfrm>
          <a:prstGeom prst="roundRect">
            <a:avLst>
              <a:gd name="adj" fmla="val 8889"/>
            </a:avLst>
          </a:prstGeom>
          <a:solidFill>
            <a:srgbClr val="243570"/>
          </a:solidFill>
          <a:ln w="12700">
            <a:solidFill>
              <a:srgbClr val="2D40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07608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C02050"/>
          </a:solidFill>
          <a:ln w="12700">
            <a:solidFill>
              <a:srgbClr val="C02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7608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95544" y="25237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BAE6FD"/>
                </a:solidFill>
              </a:rPr>
              <a:t>Monday.com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BAE6FD"/>
                </a:solidFill>
              </a:rPr>
              <a:t>Ready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59752" y="1938528"/>
            <a:ext cx="1463040" cy="1234440"/>
          </a:xfrm>
          <a:prstGeom prst="roundRect">
            <a:avLst>
              <a:gd name="adj" fmla="val 8889"/>
            </a:avLst>
          </a:prstGeom>
          <a:solidFill>
            <a:srgbClr val="243570"/>
          </a:solidFill>
          <a:ln w="12700">
            <a:solidFill>
              <a:srgbClr val="2D40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71816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71816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59752" y="25237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BAE6FD"/>
                </a:solidFill>
              </a:rPr>
              <a:t>Lean Six Sigma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BAE6FD"/>
                </a:solidFill>
              </a:rPr>
              <a:t>Documentado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4360" y="3337560"/>
            <a:ext cx="7955280" cy="0"/>
          </a:xfrm>
          <a:prstGeom prst="line">
            <a:avLst/>
          </a:prstGeom>
          <a:noFill/>
          <a:ln w="12700">
            <a:solidFill>
              <a:srgbClr val="2D4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4747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 paso: autorizacion para activar integracion Monday.com y arrancar Sprint 8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60320" y="4005072"/>
            <a:ext cx="4023360" cy="402336"/>
          </a:xfrm>
          <a:prstGeom prst="roundRect">
            <a:avLst>
              <a:gd name="adj" fmla="val 3181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60320" y="40050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 |  TEC BI  |  Area de Produccion Audiovisual  | 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SOFIAA — Resumen Ejecutivo Doctoral 2026</dc:title>
  <dc:subject>PptxGenJS Presentation</dc:subject>
  <dc:creator>SOFIAA TEC BI</dc:creator>
  <cp:lastModifiedBy>SOFIAA TEC BI</cp:lastModifiedBy>
  <cp:revision>1</cp:revision>
  <dcterms:created xsi:type="dcterms:W3CDTF">2026-06-21T19:17:47Z</dcterms:created>
  <dcterms:modified xsi:type="dcterms:W3CDTF">2026-06-21T19:17:47Z</dcterms:modified>
</cp:coreProperties>
</file>