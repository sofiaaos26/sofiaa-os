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Abrir con calma. Dejar que el título respire. Presentar a SOFIAA JP como un producto hecho exclusivamente para Jardines de Juan Pablo.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con el contexto humano, no con el producto. Jardines ya tiene 20 años de excelencia en servicio presencial — la pregunta es: ¿qué pasa cuando una familia los busca digitalmente?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puntos son el puente hacia la solución. No estamos criticando a Jardines — estamos señalando una oportunidad de mercado que ningún competidor en Monterrey ha aprovechado todavía.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del pitch. SOFIAA JP no es una herramienta — es una presencia. Una extensión de la calidez de Jardines disponible las 24 horas.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completo. El paso 5 (contacto del asesor) es lo que conecta a SOFIAA JP con el equipo humano — nunca reemplaza, siempre complementa.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cómo los paquetes se presentan como acordeón expandible — la familia puede comparar sin sentirse abrumada. Cada paquete tiene un CTA directo a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servicios en total incluyendo previsión funeraria. Las dos sedes (Churubusco y Apodaca) tienen información detallada de dirección y teléfono en el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chat flotante es la joya del módulo. Aparece en todas las páginas de JP Memorial — las familias pueden preguntar sin salir del catálogo. Mostrar el demo en vivo si es 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etapas muy claras. El cliente aprueba el prototipo hoy — y con eso autorizamos el Sprint 2 y la construcción de SOFIAA JP como producto final con su propia identidad.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1 ya está entregado — esto es lo que están viendo hoy. Sprint 2 arranca con aprobación del cliente y entrega de assets (fotos, videos). SOFIAA JP es la línea de llegada.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Abrahan tiene experiencia directa en el Tecnológico de Monterrey y entiende el mercado regiomontano. No es un outsourcer — es un aliado estratégico local.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Mantener este slide simple y directo. El cliente ya vio la demo — ahora es momento de actuar. Propuesta de precio se entrega por separado según el alcance acordado.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cita de Jardines de Juan Pablo. Dejar el silencio después de leerla. El producto habla por sí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74320"/>
            <a:ext cx="640080" cy="64008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502920"/>
            <a:ext cx="411480" cy="41148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2440" y="914400"/>
            <a:ext cx="256032" cy="25603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685800"/>
            <a:ext cx="164592" cy="16459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60520"/>
            <a:ext cx="256032" cy="25603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407408"/>
            <a:ext cx="146304" cy="146304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462272"/>
            <a:ext cx="91440" cy="914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 LAB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868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JP</a:t>
            </a:r>
            <a:endParaRPr lang="en-US" sz="6800" dirty="0"/>
          </a:p>
        </p:txBody>
      </p:sp>
      <p:sp>
        <p:nvSpPr>
          <p:cNvPr id="11" name="Text 9"/>
          <p:cNvSpPr/>
          <p:nvPr/>
        </p:nvSpPr>
        <p:spPr>
          <a:xfrm>
            <a:off x="548640" y="2176272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empática dedicada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Jardines de Juan Pablo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228600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7355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Jardines de Juan Pablo  ·  Monterrey, N.L.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Trascendiendo Juntos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CONTEXTO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familias en su momento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vulnerable merecen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mejor.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familia pierde a un ser querido, su primer instinto es buscar información. Qué hacer, a quién llamar, qué opciones existen.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búsqueda — a menudo a las 2 de la mañana, entre lágrimas — define la primera impresión que tienen de su proveedor de servicios.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encuentran hoy?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03520" y="457200"/>
            <a:ext cx="356616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94960" y="5943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92240" y="65836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trayectoria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Jardines de Juan Pablo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0" y="1965960"/>
            <a:ext cx="356616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9496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1°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único CIAF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(Centro Integral de Atención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Funeraria) en Monterrey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3474720"/>
            <a:ext cx="3566160" cy="1371600"/>
          </a:xfrm>
          <a:prstGeom prst="roundRect">
            <a:avLst>
              <a:gd name="adj" fmla="val 866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3611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C3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92240" y="3657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sedes en AMM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Churubusco (MTY) y Apodaca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 · 365 días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503920" y="182880"/>
            <a:ext cx="128016" cy="12801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5088" y="237744"/>
            <a:ext cx="82296" cy="8229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0" y="402336"/>
            <a:ext cx="64008" cy="6400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9912" y="329184"/>
            <a:ext cx="45720" cy="4572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DESAFÍO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experimenta hoy una familia que llega digitalmente?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fría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impersonal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web con listas de servicios sin contexto emocional. Las familias no encuentran respuestas a sus preguntas más humanas.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08760"/>
            <a:ext cx="502920" cy="502920"/>
          </a:xfrm>
          <a:prstGeom prst="ellipse">
            <a:avLst/>
          </a:prstGeom>
          <a:solidFill>
            <a:srgbClr val="5C3A18"/>
          </a:solidFill>
          <a:ln w="12700">
            <a:solidFill>
              <a:srgbClr val="5C3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1214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3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respuesta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5C3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inmediata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de contacto que tardan horas. Nadie disponible a las 3 AM cuando más se necesita orientación.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560320"/>
          </a:xfrm>
          <a:prstGeom prst="roundRect">
            <a:avLst>
              <a:gd name="adj" fmla="val 4643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08760"/>
            <a:ext cx="502920" cy="502920"/>
          </a:xfrm>
          <a:prstGeom prst="ellipse">
            <a:avLst/>
          </a:prstGeom>
          <a:solidFill>
            <a:srgbClr val="3D1C08"/>
          </a:solidFill>
          <a:ln w="12700">
            <a:solidFill>
              <a:srgbClr val="3D1C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12140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decisión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09360" y="27889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el paquete correcto? ¿Qué incluye cada servicio? La familia tiene que decidir en un momento de crisis sin guía.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8795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DE3D9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87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JP transforma esta experiencia — empática, inteligente, disponible las 24 horas.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182880"/>
            <a:ext cx="731520" cy="73152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640080"/>
            <a:ext cx="457200" cy="45720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868680"/>
            <a:ext cx="274320" cy="27432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JP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primera presencia digital empática e inteligente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dedicada exclusivamente a Jardines de Juan Pablo.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Siempre disponible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852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hrs, 365 días. Responde preguntas, orienta a las familias y captura leads cuando ningún asesor está en línea.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245059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2542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inteligente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85292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 los 5 paquetes Total Service de forma clara, cálida y sin presión. La familia decide a su ritmo.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empático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41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con calidez y humanidad. Nunca frío, nunca transaccional. Cada palabra está calibrada para el momento.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3639312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JDJP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4041648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chatbot genérico. Lleva los colores, la voz y el alma de Jardines de Juan Pablo en cada interacción.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 de una familia con SOFIAA JP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7512" y="1234440"/>
            <a:ext cx="1005840" cy="10058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09928" y="1700784"/>
            <a:ext cx="292608" cy="54864"/>
          </a:xfrm>
          <a:prstGeom prst="rect">
            <a:avLst/>
          </a:prstGeom>
          <a:solidFill>
            <a:srgbClr val="E0D0C0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16093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715768"/>
            <a:ext cx="15179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familia busca información en cualquier momento del día o de la noche.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86584" y="1234440"/>
            <a:ext cx="1005840" cy="1005840"/>
          </a:xfrm>
          <a:prstGeom prst="ellipse">
            <a:avLst/>
          </a:prstGeom>
          <a:solidFill>
            <a:srgbClr val="5C3A18"/>
          </a:solidFill>
          <a:ln w="12700">
            <a:solidFill>
              <a:srgbClr val="5C3A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1700784"/>
            <a:ext cx="292608" cy="54864"/>
          </a:xfrm>
          <a:prstGeom prst="rect">
            <a:avLst/>
          </a:prstGeom>
          <a:solidFill>
            <a:srgbClr val="E0D0C0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39312" y="16093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21992" y="235915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2715768"/>
            <a:ext cx="15179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la plataforma SOFIAA JP de Jardines de Juan Pablo.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05656" y="1234440"/>
            <a:ext cx="1005840" cy="1005840"/>
          </a:xfrm>
          <a:prstGeom prst="ellipse">
            <a:avLst/>
          </a:prstGeom>
          <a:solidFill>
            <a:srgbClr val="3D1C08"/>
          </a:solidFill>
          <a:ln w="12700">
            <a:solidFill>
              <a:srgbClr val="3D1C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48072" y="1700784"/>
            <a:ext cx="292608" cy="54864"/>
          </a:xfrm>
          <a:prstGeom prst="rect">
            <a:avLst/>
          </a:prstGeom>
          <a:solidFill>
            <a:srgbClr val="E0D0C0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6093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41064" y="235915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9624" y="2715768"/>
            <a:ext cx="15179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servicios, paquetes y capillas con claridad y calma.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24728" y="1234440"/>
            <a:ext cx="1005840" cy="10058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24728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67144" y="1700784"/>
            <a:ext cx="292608" cy="54864"/>
          </a:xfrm>
          <a:prstGeom prst="rect">
            <a:avLst/>
          </a:prstGeom>
          <a:solidFill>
            <a:srgbClr val="E0D0C0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1609344"/>
            <a:ext cx="18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0136" y="235915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68696" y="2715768"/>
            <a:ext cx="15179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JP responde al instante con empatía y lenguaje humano.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43800" y="1234440"/>
            <a:ext cx="1005840" cy="100584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79208" y="2359152"/>
            <a:ext cx="1335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87768" y="2715768"/>
            <a:ext cx="151790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recibe el lead y da seguimiento personalizado.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498848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EDE3D9"/>
          </a:solidFill>
          <a:ln w="12700">
            <a:solidFill>
              <a:srgbClr val="E0D0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507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flujo está implementado hoy · Prototipo funcional disponible para demostración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de Paquetes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paquetes JDJP Total Service presentados de forma clara, sin presión y con todos sus detalles.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9047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7B5C1A"/>
          </a:solidFill>
          <a:ln w="12700">
            <a:solidFill>
              <a:srgbClr val="7B5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904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737360" y="1417320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VIP · 4 gavetas · catering 50 · música en vivo · concierge · tanatología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664208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Precio congelado · ✓ Asignación inmediata · ✓ Seguro de saldo deudor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82296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12140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214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37360" y="2048256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Platino · 4 ceremonias · video homenaje · flores blancas todo el año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37360" y="2295144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Precio congelado · ✓ Asignación inmediata · ✓ Seguro de saldo deudor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82296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752344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07C1A"/>
          </a:solidFill>
          <a:ln w="12700">
            <a:solidFill>
              <a:srgbClr val="B07C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523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737360" y="2679192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Oro · 3 ceremonias · catering 40 personas · bono mantenimiento 7 años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926080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Precio congelado · ✓ Asignación inmediata · ✓ Seguro de saldo deudor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218688"/>
            <a:ext cx="82296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3832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A6A5A"/>
          </a:solidFill>
          <a:ln w="12700">
            <a:solidFill>
              <a:srgbClr val="5A6A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383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37360" y="3310128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Plata · 2 eventos · coffee break · bono mantenimiento 5 años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557016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Precio congelado · ✓ Asignación inmediata · ✓ Seguro de saldo deudor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849624"/>
            <a:ext cx="8229600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" y="4014216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0142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NICHOS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37360" y="3941064"/>
            <a:ext cx="6766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Columbarios · 2 ceremonias · placa familiar · 10 años bono · título a perpetuidad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4187952"/>
            <a:ext cx="6766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Precio congelado · ✓ Asignación inmediata · ✓ Seguro de saldo deudor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y Capillas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6072" y="1417320"/>
            <a:ext cx="493776" cy="493776"/>
          </a:xfrm>
          <a:prstGeom prst="ellipse">
            <a:avLst/>
          </a:prstGeom>
          <a:solidFill>
            <a:srgbClr val="C44040"/>
          </a:solidFill>
          <a:ln w="12700">
            <a:solidFill>
              <a:srgbClr val="C4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17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 Inmediato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6184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hrs · menos de 60 min en AMM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350008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" y="2624328"/>
            <a:ext cx="493776" cy="493776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Capillas de Velación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70432" y="28254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Churubusco + Apodaca · 12 y 24 hrs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3557016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" y="3831336"/>
            <a:ext cx="493776" cy="493776"/>
          </a:xfrm>
          <a:prstGeom prst="ellipse">
            <a:avLst/>
          </a:prstGeom>
          <a:solidFill>
            <a:srgbClr val="2D6B4A"/>
          </a:solidFill>
          <a:ln w="12700">
            <a:solidFill>
              <a:srgbClr val="2D6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3694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Parque de Descanso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40325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americano · único en el norte del AMM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143000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65192" y="1417320"/>
            <a:ext cx="493776" cy="493776"/>
          </a:xfrm>
          <a:prstGeom prst="ellipse">
            <a:avLst/>
          </a:prstGeom>
          <a:solidFill>
            <a:srgbClr val="5A3A7A"/>
          </a:solidFill>
          <a:ln w="12700">
            <a:solidFill>
              <a:srgbClr val="5A3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4173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59552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Crematorio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59552" y="161848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en Apodaca · cremación directa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2350008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65192" y="2624328"/>
            <a:ext cx="493776" cy="493776"/>
          </a:xfrm>
          <a:prstGeom prst="ellipse">
            <a:avLst/>
          </a:prstGeom>
          <a:solidFill>
            <a:srgbClr val="B07C1A"/>
          </a:solidFill>
          <a:ln w="12700">
            <a:solidFill>
              <a:srgbClr val="B07C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6243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59552" y="2487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C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Florería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59552" y="282549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Coronas y arreglos directo a capilla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57016"/>
            <a:ext cx="41148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65192" y="3831336"/>
            <a:ext cx="493776" cy="493776"/>
          </a:xfrm>
          <a:prstGeom prst="ellipse">
            <a:avLst/>
          </a:prstGeom>
          <a:solidFill>
            <a:srgbClr val="2D5E8A"/>
          </a:solidFill>
          <a:ln w="12700">
            <a:solidFill>
              <a:srgbClr val="2D5E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3831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59552" y="36941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E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Tanatología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9552" y="40325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profesional en el duelo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548640" cy="5486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731520"/>
            <a:ext cx="320040" cy="32004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480560"/>
            <a:ext cx="201168" cy="20116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 y Chat Empático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937760" y="1298448"/>
            <a:ext cx="3931920" cy="3474720"/>
          </a:xfrm>
          <a:prstGeom prst="roundRect">
            <a:avLst>
              <a:gd name="adj" fmla="val 3421"/>
            </a:avLst>
          </a:prstGeom>
          <a:solidFill>
            <a:srgbClr val="4A2808"/>
          </a:solidFill>
          <a:ln w="7620">
            <a:solidFill>
              <a:srgbClr val="E0D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1298448"/>
            <a:ext cx="3931920" cy="658368"/>
          </a:xfrm>
          <a:prstGeom prst="roundRect">
            <a:avLst>
              <a:gd name="adj" fmla="val 18056"/>
            </a:avLst>
          </a:prstGeom>
          <a:solidFill>
            <a:srgbClr val="2A1005"/>
          </a:solidFill>
          <a:ln w="12700">
            <a:solidFill>
              <a:srgbClr val="2A100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2352" y="1417320"/>
            <a:ext cx="402336" cy="40233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2352" y="1417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96128" y="1463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JP  ·  En línea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2084832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1214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¿me pueden orientar sobre el paquete Oro?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02352" y="2633472"/>
            <a:ext cx="3520440" cy="640080"/>
          </a:xfrm>
          <a:prstGeom prst="roundRect">
            <a:avLst>
              <a:gd name="adj" fmla="val 14286"/>
            </a:avLst>
          </a:prstGeom>
          <a:solidFill>
            <a:srgbClr val="5A3010"/>
          </a:solidFill>
          <a:ln w="12700">
            <a:solidFill>
              <a:srgbClr val="6A4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3792" y="2688336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Hola, con mucho gusto. El paquete Oro incluye 3 ceremonias Total Service, catering para 40 personas, 24 rosas y bono de mantenimiento por 7 años. ¿Te gustaría conocer más detalles?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83680" y="3429000"/>
            <a:ext cx="2103120" cy="420624"/>
          </a:xfrm>
          <a:prstGeom prst="roundRect">
            <a:avLst>
              <a:gd name="adj" fmla="val 21739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46557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cuál es la diferencia con el Platino?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1298448"/>
            <a:ext cx="420624" cy="420624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298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FAQ y preguntas frecuentes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159105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respuestas predefinidas sobre procesos, urgencias, paquetes y trámites.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420624" cy="420624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con sentido humano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27614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términos traducidos a lenguaje empático: partir, trascender, velatorio...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639312"/>
            <a:ext cx="420624" cy="420624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de leads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9319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 y motivo de consulta directo al asesor disponible.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FINAL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prototipo a producto propio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99032"/>
            <a:ext cx="420624" cy="420624"/>
          </a:xfrm>
          <a:prstGeom prst="ellipse">
            <a:avLst/>
          </a:prstGeom>
          <a:solidFill>
            <a:srgbClr val="5C3A18"/>
          </a:solidFill>
          <a:ln w="12700">
            <a:solidFill>
              <a:srgbClr val="5C3A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39903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— Prototipo validado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JP Memorial dentro de SOFIAA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206654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SOFIAA contextualizado con todo el catálogo JDJP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43000" y="230428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funcionales: Inicio, Servicios, Catálogo, Atención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254203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3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en línea — disponible para demo ahora mismo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8229600" cy="1600200"/>
          </a:xfrm>
          <a:prstGeom prst="roundRect">
            <a:avLst>
              <a:gd name="adj" fmla="val 7429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182112"/>
            <a:ext cx="420624" cy="420624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318211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JP — Producto final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61188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independiente con identidad visual de Jardines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3849624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marrón/dorado · tipografía · logo JDJP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3000" y="40873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propio: sofia.juanpablo.com.mx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43000" y="432511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15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dedicada: solo Jardines de Juan Pablo en cada pixel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prototipo al lanzamiento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788920" cy="3547872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07008"/>
            <a:ext cx="2788920" cy="658368"/>
          </a:xfrm>
          <a:prstGeom prst="roundRect">
            <a:avLst>
              <a:gd name="adj" fmla="val 18056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36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funcional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operativos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907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SOFIAA contextualizado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5 paquetes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9684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y glosario empático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207008"/>
            <a:ext cx="2788920" cy="3547872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07008"/>
            <a:ext cx="2788920" cy="658368"/>
          </a:xfrm>
          <a:prstGeom prst="roundRect">
            <a:avLst>
              <a:gd name="adj" fmla="val 18056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1536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APROBACIÓN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29000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rico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42900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fotográfica de instalaciones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907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eventos (YouTube)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381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captura de leads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9684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WhatsApp al asesor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1207008"/>
            <a:ext cx="2788920" cy="3547872"/>
          </a:xfrm>
          <a:prstGeom prst="roundRect">
            <a:avLst>
              <a:gd name="adj" fmla="val 4262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207008"/>
            <a:ext cx="2788920" cy="658368"/>
          </a:xfrm>
          <a:prstGeom prst="roundRect">
            <a:avLst>
              <a:gd name="adj" fmla="val 18056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2618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JP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17920" y="15361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FINAL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63640" y="1965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dedicado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2377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 JDJP completa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9077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propio configurado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43814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producción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9684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del equipo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NOSOTROS?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LAB — el equipo detrás del proyecto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572000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89888"/>
            <a:ext cx="822960" cy="82296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08760" y="14447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Abrahan Cruz Urrutia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17922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· SOFIAA LAB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Ingeniería de Ciencia de Datos e IA — UVM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años produciendo campañas nacionales · Tecnológico de Monterrey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años en producción audiovisual y estrategia creativa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8587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pPr indent="0" marL="0">
              <a:buNone/>
            </a:pPr>
            <a:r>
              <a:rPr lang="en-US" sz="1100" dirty="0">
                <a:solidFill>
                  <a:srgbClr val="2E1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52+ certificaciones en universidades internacionales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1234440"/>
            <a:ext cx="3749040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536192"/>
            <a:ext cx="402336" cy="40233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70448" y="132588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 de punta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870448" y="163677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moderno: Next.js, IA generativa, streaming en tiempo real, Firebase.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12080" y="2404872"/>
            <a:ext cx="3749040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49240" y="2706624"/>
            <a:ext cx="402336" cy="40233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70448" y="2496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 de marca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70448" y="280720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que JP Memorial no es un negocio cualquiera. El tono lo es todo.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212080" y="3575304"/>
            <a:ext cx="3749040" cy="1024128"/>
          </a:xfrm>
          <a:prstGeom prst="roundRect">
            <a:avLst>
              <a:gd name="adj" fmla="val 11607"/>
            </a:avLst>
          </a:prstGeom>
          <a:solidFill>
            <a:srgbClr val="FFFFFF"/>
          </a:solidFill>
          <a:ln w="7620">
            <a:solidFill>
              <a:srgbClr val="E0D0C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9240" y="3877056"/>
            <a:ext cx="402336" cy="402336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70448" y="3666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ágil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70448" y="397764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entregado en días. Iteramos rápido y sin burocracia.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6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Jardines de Juan Pablo 2026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869680" y="4956048"/>
            <a:ext cx="73152" cy="7315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28600"/>
            <a:ext cx="594360" cy="5943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685800"/>
            <a:ext cx="365760" cy="36576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 para poner en marcha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SOFIAA JP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984248"/>
            <a:ext cx="438912" cy="438912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84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6537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Aprobación de propuesta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1284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da el visto bueno a esta propuesta y autoriza Sprint 2.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008376"/>
            <a:ext cx="438912" cy="438912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8950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de assets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236976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Jardines comparte fotografías de instalaciones y links de videos de YouTube para eventos.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8229600" cy="896112"/>
          </a:xfrm>
          <a:prstGeom prst="roundRect">
            <a:avLst>
              <a:gd name="adj" fmla="val 10204"/>
            </a:avLst>
          </a:prstGeom>
          <a:solidFill>
            <a:srgbClr val="4A2808"/>
          </a:solidFill>
          <a:ln w="10160">
            <a:solidFill>
              <a:srgbClr val="6A3A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032504"/>
            <a:ext cx="438912" cy="438912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0325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1C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91363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de SOFIAA JP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26110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9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Aplicamos la identidad visual JDJP completa y hacemos el lanzamiento en producción.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LAB  ·  Propuesta confidencial  · 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D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502920"/>
            <a:ext cx="4114800" cy="4114800"/>
          </a:xfrm>
          <a:prstGeom prst="ellipse">
            <a:avLst/>
          </a:prstGeom>
          <a:solidFill>
            <a:srgbClr val="4A2808"/>
          </a:solidFill>
          <a:ln w="12700">
            <a:solidFill>
              <a:srgbClr val="4A28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822960"/>
            <a:ext cx="3200400" cy="3200400"/>
          </a:xfrm>
          <a:prstGeom prst="ellipse">
            <a:avLst/>
          </a:prstGeom>
          <a:solidFill>
            <a:srgbClr val="3A1C08"/>
          </a:solidFill>
          <a:ln w="12700">
            <a:solidFill>
              <a:srgbClr val="3A1C0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280160"/>
            <a:ext cx="1828800" cy="18288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737360"/>
            <a:ext cx="822960" cy="822960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5029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SOFIAA  LAB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lugar donde el final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escribe con un punto,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 con un sinfín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D4B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recuerdos.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3493008"/>
            <a:ext cx="2011680" cy="27432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89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Trascendiendo Juntos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Abrahan Cruz Urrutia  ·  SOFIAA LAB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434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u.cannmx@gmail.com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SOFIAA JP — Propuesta para Jardines de Juan Pablo</dc:title>
  <dc:subject>PptxGenJS Presentation</dc:subject>
  <dc:creator>SOFIAA LAB — Abrahan Cruz Urrutia</dc:creator>
  <cp:lastModifiedBy>SOFIAA LAB — Abrahan Cruz Urrutia</cp:lastModifiedBy>
  <cp:revision>1</cp:revision>
  <dcterms:created xsi:type="dcterms:W3CDTF">2026-06-21T21:22:44Z</dcterms:created>
  <dcterms:modified xsi:type="dcterms:W3CDTF">2026-06-21T21:22:44Z</dcterms:modified>
</cp:coreProperties>
</file>