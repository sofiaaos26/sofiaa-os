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IP (MXN $K)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7D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90A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Capability
Runtime</c:v>
                  </c:pt>
                  <c:pt idx="1">
                    <c:v>Ecosistema
de Extension</c:v>
                  </c:pt>
                  <c:pt idx="2">
                    <c:v>Motor de
Politica Cogn.</c:v>
                  </c:pt>
                  <c:pt idx="3">
                    <c:v>Grafo de
Experiencia</c:v>
                  </c:pt>
                  <c:pt idx="4">
                    <c:v>LLM
Orquestador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280</c:v>
                </c:pt>
                <c:pt idx="2">
                  <c:v>90</c:v>
                </c:pt>
                <c:pt idx="3">
                  <c:v>75</c:v>
                </c:pt>
                <c:pt idx="4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7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OVAL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743200" cy="2743200"/>
          </a:xfrm>
          <a:prstGeom prst="OVAL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097280" cy="1097280"/>
          </a:xfrm>
          <a:prstGeom prst="OVAL">
            <a:avLst/>
          </a:prstGeom>
          <a:solidFill>
            <a:srgbClr val="2D7D9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5603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DOCTORAL DE INVESTIGACION  ·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Experience Middleware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Repensando como las organizaciones aprenden, deciden y actuan a traves de inteligencia artificial contextual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 ·  Presentacion Ejecutiva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Central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463040"/>
          </a:xfrm>
          <a:prstGeom prst="ROUNDED_RECTANGLE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organizaciones se ahogan en datos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mueren de sed de sabiduria.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651760" cy="2286000"/>
          </a:xfrm>
          <a:prstGeom prst="ROUNDED_RECTANGLE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697480"/>
            <a:ext cx="347472" cy="347472"/>
          </a:xfrm>
          <a:prstGeom prst="OVAL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 Existen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547872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generan terabytes de datos operativos cada dia. Estan atrapados en sistemas aislados, inaccesibles para quienes los necesitan.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606040"/>
            <a:ext cx="2651760" cy="2286000"/>
          </a:xfrm>
          <a:prstGeom prst="ROUNDED_RECTANGLE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697480"/>
            <a:ext cx="347472" cy="347472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Modelos Existen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547872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grandes modelos de lenguaje razonan a velocidad sobrehumana. Pero operan sobre conocimiento estatico, desconectados de la realidad en vivo.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2606040"/>
            <a:ext cx="2651760" cy="2286000"/>
          </a:xfrm>
          <a:prstGeom prst="ROUNDED_RECTANGLE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2697480"/>
            <a:ext cx="347472" cy="347472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547872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capa inteligente que conecte datos empresariales en tiempo real, contexto por rol y lenguaje humano natural... hasta ahora.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OUNDED_RECTANGL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puede un sistema de IA </a:t>
            </a:r>
            <a:pPr indent="0" marL="0">
              <a:buNone/>
            </a:pPr>
            <a:r>
              <a:rPr lang="en-US" sz="21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adaptar su conocimiento, comportamiento, interfaz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acceso a datos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tiempo real —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 quien es el usuario, que necesita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donde esta en la organizacion?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5303520" cy="1143000"/>
          </a:xfrm>
          <a:prstGeom prst="ROUNDED_RECTANGLE">
            <a:avLst>
              <a:gd name="adj" fmla="val 9600"/>
            </a:avLst>
          </a:prstGeom>
          <a:solidFill>
            <a:srgbClr val="F0F9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404164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middleware cognitivo en capas — combinando motores de politica, grafos de experiencia, maquinas de estado de objetivos y runtimes de capacidades — puede transformar cualquier LLM en una inteligencia organizacional consciente del rol.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2834640" cy="4023360"/>
          </a:xfrm>
          <a:prstGeom prst="ROUNDED_RECTANGLE">
            <a:avLst>
              <a:gd name="adj" fmla="val 3871"/>
            </a:avLst>
          </a:prstGeom>
          <a:solidFill>
            <a:srgbClr val="1A1A2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868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72200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1307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7220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1883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+ Ruta + Historia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2185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78040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cognitivas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788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3090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78040" y="31181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Runtime en vivo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3694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721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Cognitivo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Catalogo al Middleware Cognitivo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evolucion de SOFIAA a lo largo de seis sprints de investigacion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24912"/>
            <a:ext cx="822960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2560320"/>
            <a:ext cx="329184" cy="329184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24128"/>
            <a:ext cx="1600200" cy="1572768"/>
          </a:xfrm>
          <a:prstGeom prst="ROUNDED_RECTANGLE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1600200" cy="1627632"/>
          </a:xfrm>
          <a:prstGeom prst="ROUNDED_RECTANGLE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2608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Vitrina estatica con navegacion basica y respuestas predefinidas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88336" y="2560320"/>
            <a:ext cx="329184" cy="329184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6272" y="1024128"/>
            <a:ext cx="1600200" cy="1572768"/>
          </a:xfrm>
          <a:prstGeom prst="ROUNDED_RECTANGLE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9424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9424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76272" y="2852928"/>
            <a:ext cx="1600200" cy="1627632"/>
          </a:xfrm>
          <a:prstGeom prst="ROUNDED_RECTANGLE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67712" y="292608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streaming con guardrails, memoria de sesion y telemetria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07408" y="2560320"/>
            <a:ext cx="329184" cy="329184"/>
          </a:xfrm>
          <a:prstGeom prst="OVAL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95344" y="1024128"/>
            <a:ext cx="1600200" cy="1572768"/>
          </a:xfrm>
          <a:prstGeom prst="ROUNDED_RECTANGLE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68496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68496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Ecosistema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Extension (SEE)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95344" y="2852928"/>
            <a:ext cx="1600200" cy="1627632"/>
          </a:xfrm>
          <a:prstGeom prst="ROUNDED_RECTANGLE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86784" y="292608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extensiones empresariales, RBAC, Firebase Auth + Middleware de borde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560320"/>
            <a:ext cx="329184" cy="329184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024128"/>
            <a:ext cx="1600200" cy="1572768"/>
          </a:xfrm>
          <a:prstGeom prst="ROUNDED_RECTANGLE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87568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87568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14416" y="2852928"/>
            <a:ext cx="1600200" cy="1627632"/>
          </a:xfrm>
          <a:prstGeom prst="ROUNDED_RECTANGLE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05856" y="292608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Intencion · Politica Cognitiva · Grafo de Experiencia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45552" y="2560320"/>
            <a:ext cx="329184" cy="329184"/>
          </a:xfrm>
          <a:prstGeom prst="OVAL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3488" y="1024128"/>
            <a:ext cx="1600200" cy="1572768"/>
          </a:xfrm>
          <a:prstGeom prst="ROUNDED_RECTANGLE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06640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33488" y="2852928"/>
            <a:ext cx="1600200" cy="1627632"/>
          </a:xfrm>
          <a:prstGeom prst="ROUNDED_RECTANGLE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24928" y="292608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Inyeccion de datos en vivo via Function Calling con control de rol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Filosofia Central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axiomas que rigen cada decision de diseno en SOFIAA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74320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35024"/>
            <a:ext cx="384048" cy="384048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13350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Dato no es Conocimiento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crudo se convierte en conocimiento solo cuando pasa por rol, contexto e intencion. SOFIAA nunca expone datos crudos al LLM — solo resumenes estructurados.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170432"/>
            <a:ext cx="274320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1335024"/>
            <a:ext cx="384048" cy="38404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13350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LLM es Razonador, no Almacen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18105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lenguaje es un motor de razonamiento, no una base de datos. Los datos fluyen mediante canales verificados — nunca incrustados en prompts estaticos.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1170432"/>
            <a:ext cx="274320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91656" y="1335024"/>
            <a:ext cx="384048" cy="384048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76288" y="13350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Experiencia debe Decaer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1656" y="18105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senales de interes del usuario tienen peso temporal. Lo que importo el mes pasado importa menos hoy. El Grafo de Experiencia aplica un decaimiento del 5% diario.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43000" y="3090672"/>
            <a:ext cx="329184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80160" y="3255264"/>
            <a:ext cx="384048" cy="384048"/>
          </a:xfrm>
          <a:prstGeom prst="OVAL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64792" y="32552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Acceso es un Derecho Gobernado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7307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capacidad, extension y fuente de datos esta protegida por RBAC en la capa Gateway. El LLM nunca decide quien puede ver que — la politica lo decide.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3090672"/>
            <a:ext cx="3291840" cy="1719072"/>
          </a:xfrm>
          <a:prstGeom prst="ROUNDED_RECTANGLE">
            <a:avLst>
              <a:gd name="adj" fmla="val 6383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55264"/>
            <a:ext cx="384048" cy="384048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39512" y="32552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Turno Mejora el Sistema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7307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conversacion actualiza el Grafo de Experiencia, informa al CPE y refina el perfil del usuario. El sistema se vuelve mas inteligente con cada interaccion.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OVAL">
            <a:avLst/>
          </a:prstGeom>
          <a:solidFill>
            <a:srgbClr val="2D7D9A">
              <a:alpha val="12000"/>
            </a:srgbClr>
          </a:solidFill>
          <a:ln w="12700">
            <a:solidFill>
              <a:srgbClr val="2D7D9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OVAL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y Vision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3429000"/>
          </a:xfrm>
          <a:prstGeom prst="ROUNDED_RECTANGLE">
            <a:avLst>
              <a:gd name="adj" fmla="val 3200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05840"/>
            <a:ext cx="457200" cy="457200"/>
          </a:xfrm>
          <a:prstGeom prst="OVAL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024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que la inteligencia organizacional sea universalmente accesible — para que cada persona en una empresa pueda hacer cualquier pregunta, en lenguaje natural, y recibir una respuesta precisa, ajustada a su rol y en tiempo real — sin necesitar saber donde viven los datos.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3931920" cy="3429000"/>
          </a:xfrm>
          <a:prstGeom prst="ROUNDED_RECTANGLE">
            <a:avLst>
              <a:gd name="adj" fmla="val 3200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005840"/>
            <a:ext cx="457200" cy="457200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024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1572768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mundo donde la inteligencia artificial no reemplaza el juicio humano — lo amplifica. SOFIAA es la capa que conecta personas, datos, modelos y politicas en una sola experiencia coherente — el primer AI Experience Middleware construido para empresas reales.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estamos construyendo un chatbot. Estamos construyendo la capa cognitiva de la empresa moderna."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Arquitectura Cognitiva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capas integradas — cada una composable de forma independiente, poderosas en conjunto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4A90A4">
              <a:alpha val="85000"/>
            </a:srgbClr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80160"/>
            <a:ext cx="329184" cy="329184"/>
          </a:xfrm>
          <a:prstGeom prst="OVAL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Interfaz de Usuario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 UI · Componentes Adaptativos · Progreso de Objetivos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19656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7C3AED">
              <a:alpha val="7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911096"/>
            <a:ext cx="329184" cy="329184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911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Politica Cognitiva (CPE)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11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Politicas de Comportamiento · Evaluacion Post-Stream · CPE Score 0-1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1A1A2E">
              <a:alpha val="69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542032"/>
            <a:ext cx="329184" cy="329184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542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Orchestrator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&gt; Gemini Fallback · Enrutamiento Multi-proveedor · Streaming SSE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81528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059669">
              <a:alpha val="61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172968"/>
            <a:ext cx="329184" cy="329184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Maquina de Estado de Objetivos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172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Multi-paso · sessionStorage · Deteccion Automatica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B45309">
              <a:alpha val="53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803904"/>
            <a:ext cx="329184" cy="329184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3803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de Experiencia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con Peso · Decaimiento Temporal · localStorage + Firestore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8229600" cy="530352"/>
          </a:xfrm>
          <a:prstGeom prst="ROUNDED_RECTANGLE">
            <a:avLst>
              <a:gd name="adj" fmla="val 13793"/>
            </a:avLst>
          </a:prstGeom>
          <a:solidFill>
            <a:srgbClr val="BE185D">
              <a:alpha val="45000"/>
            </a:srgbClr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434840"/>
            <a:ext cx="329184" cy="329184"/>
          </a:xfrm>
          <a:prstGeom prst="OVAL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4434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Runtime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434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en vivo · Gateway RBAC · Resumenes Estructurados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de Metricas Propias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disenados para medir calidad de inteligencia — no solo rendimiento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OUNDED_RECTANGLE">
            <a:avLst>
              <a:gd name="adj" fmla="val 6486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0 - 1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de Nodo en Grafo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71907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afinidad de topico o extension. +0.12 por interaccion, decaimiento temporal 5%/dia, poda al llegar a &lt;0.06 con &lt;2 visitas.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691640"/>
          </a:xfrm>
          <a:prstGeom prst="ROUNDED_RECTANGLE">
            <a:avLst>
              <a:gd name="adj" fmla="val 6486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325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1228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CPE Policy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171907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Puntuacion compuesta para calidad de respuesta del LLM. Errores penalizados 2x, rastreado en 8 dimensiones de politica conductual.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114800" cy="1691640"/>
          </a:xfrm>
          <a:prstGeom prst="ROUNDED_RECTANGLE">
            <a:avLst>
              <a:gd name="adj" fmla="val 6486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de Tokens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359359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tokens vs. inyeccion completa de coleccion Firestore. Los resumenes estructurados reemplazan el JSON crudo en el contexto.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14800" cy="1691640"/>
          </a:xfrm>
          <a:prstGeom prst="ROUNDED_RECTANGLE">
            <a:avLst>
              <a:gd name="adj" fmla="val 6486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02920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Enrutamiento del Orquestador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359359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como primario, Gemini como fallback, Mock para pruebas. Conmutacion automatica basada en latencia.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Economico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cuantificado generado en tres verticales empresariales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70432"/>
            <a:ext cx="2926080" cy="1115568"/>
          </a:xfrm>
          <a:prstGeom prst="ROUNDED_RECTANGLE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12618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$655K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897880" y="1883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059168" y="1353312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IP Total Estimado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2468880"/>
            <a:ext cx="2926080" cy="1115568"/>
          </a:xfrm>
          <a:prstGeom prst="ROUNDED_RECTANGLE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89788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059168" y="265176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 BI  ·  JP Memorial  ·  Marketing Sofia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3767328"/>
            <a:ext cx="2926080" cy="1115568"/>
          </a:xfrm>
          <a:prstGeom prst="ROUNDED_RECTANGLE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97880" y="38587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5897880" y="4480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059168" y="395020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nueva capacidad agrega valor sin reconstruir el core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Innovacion Tecnologica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Contribuciones arquitectonicas que avanzan el estado del arte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114800" cy="1719072"/>
          </a:xfrm>
          <a:prstGeom prst="ROUNDED_RECTANGLE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35024"/>
            <a:ext cx="475488" cy="475488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Inyeccion de Datos Bajo Demanda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7647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RAG, SOFIAA obtiene datos en vivo de Firestore solo cuando la Function Call del LLM lo declara. Efimero, controlado por rol y eficiente en tokens.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RAG: recuperacion siempre activa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0" y="1170432"/>
            <a:ext cx="4114800" cy="1719072"/>
          </a:xfrm>
          <a:prstGeom prst="ROUNDED_RECTANGLE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335024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de Experiencia Temporal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0" y="17647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grafo ponderado de preferencias y afinidades de topicos que decae con el tiempo — modelando el olvido y reenfoque humano. Ningun framework LLM existente implementa decaimiento temporal en el contexto del usuario.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Novedad: sin arte previo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44952"/>
            <a:ext cx="4114800" cy="1719072"/>
          </a:xfrm>
          <a:prstGeom prst="ROUNDED_RECTANGLE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209544"/>
            <a:ext cx="475488" cy="475488"/>
          </a:xfrm>
          <a:prstGeom prst="OVAL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2278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Politicas Cognitivas Declarativas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6393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politicas de comportamiento evaluadas post-stream, puntuando las respuestas del LLM en escala 0-1 con pesos de error (2x) y advertencia. Permite comportamiento de IA auditable a escala empresarial.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Constitutional AI: en tiempo de ejecucion, no entrenamiento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3044952"/>
            <a:ext cx="4114800" cy="1719072"/>
          </a:xfrm>
          <a:prstGeom prst="ROUNDED_RECTANGLE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3209544"/>
            <a:ext cx="475488" cy="475488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2278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Runtime Agnostico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36393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DataProvider abstrae Firestore, Monday.com, REST y SAP detras de un unico contrato execute(). El LLM nunca conoce la fuente — solo recibe resultados estructurados de capability.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Tool Use generica: con control de rol + resumen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OVAL">
            <a:avLst/>
          </a:prstGeom>
          <a:solidFill>
            <a:srgbClr val="2D7D9A">
              <a:alpha val="10000"/>
            </a:srgbClr>
          </a:solidFill>
          <a:ln w="12700">
            <a:solidFill>
              <a:srgbClr val="2D7D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Democratizando la Inteligencia Empresarial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3246120"/>
          </a:xfrm>
          <a:prstGeom prst="ROUNDED_RECTANGLE">
            <a:avLst>
              <a:gd name="adj" fmla="val 4068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411480" cy="411480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Equidad del Conocimiento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empresas tradicionales, el acceso a los datos es privilegio de la jerarquia. SOFIAA hace que la misma calidad de insight este disponible para cada rol — filtrado por su alcance, no por su rango.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508760"/>
            <a:ext cx="2697480" cy="3246120"/>
          </a:xfrm>
          <a:prstGeom prst="ROUNDED_RECTANGLE">
            <a:avLst>
              <a:gd name="adj" fmla="val 4068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664208"/>
            <a:ext cx="411480" cy="411480"/>
          </a:xfrm>
          <a:prstGeom prst="OVAL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8728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Aumentacion Cognitiva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38728" y="26517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no reemplaza el juicio humano — elimina la friccion de encontrar, interpretar y contextualizar datos. Los colaboradores pasan menos tiempo buscando y mas tiempo decidiendo.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2697480" cy="3246120"/>
          </a:xfrm>
          <a:prstGeom prst="ROUNDED_RECTANGLE">
            <a:avLst>
              <a:gd name="adj" fmla="val 4068"/>
            </a:avLst>
          </a:prstGeom>
          <a:solidFill>
            <a:srgbClr val="1F2D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1664208"/>
            <a:ext cx="411480" cy="411480"/>
          </a:xfrm>
          <a:prstGeom prst="OVAL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37376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Institucional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7376" y="26517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pierden conocimiento critico cuando los empleados se van. El Grafo de Experiencia captura patrones de interaccion, objetivos y enfoque de dominio — creando inteligencia organizacional persistente.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Runtime Layer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SOFIAA consulta datos empresariales en vivo — sin revelar la fuente al LLM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389888"/>
            <a:ext cx="475488" cy="475488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93852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Usuario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241401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18488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64792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67128" y="1389888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67128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37944" y="193852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Function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37944" y="241401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capability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63240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9544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1389888"/>
            <a:ext cx="475488" cy="475488"/>
          </a:xfrm>
          <a:prstGeom prst="OVAL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82696" y="193852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241401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Auditoria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07992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54296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56632" y="1389888"/>
            <a:ext cx="475488" cy="475488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27448" y="193852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27448" y="241401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sin listener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52744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&gt;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9048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01384" y="1389888"/>
            <a:ext cx="475488" cy="475488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1384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193852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Estructurado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241401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+ Metricas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97496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&gt;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43800" y="1280160"/>
            <a:ext cx="1298448" cy="1664208"/>
          </a:xfrm>
          <a:prstGeom prst="ROUNDED_RECTANGLE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46136" y="1389888"/>
            <a:ext cx="475488" cy="475488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46136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16952" y="193852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16952" y="241401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exacto en vivo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4114800" cy="594360"/>
          </a:xfrm>
          <a:prstGeom prst="ROUNDED_RECTANGLE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3401568"/>
            <a:ext cx="292608" cy="292608"/>
          </a:xfrm>
          <a:prstGeom prst="OVAL">
            <a:avLst/>
          </a:prstGeom>
          <a:solidFill>
            <a:srgbClr val="2D7D9A"/>
          </a:solidFill>
          <a:ln w="12700">
            <a:solidFill>
              <a:srgbClr val="2D7D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de Tokens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5840" y="3593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menos vs. inyeccion JSON completa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3246120"/>
            <a:ext cx="4114800" cy="594360"/>
          </a:xfrm>
          <a:prstGeom prst="ROUNDED_RECTANGLE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83480" y="3401568"/>
            <a:ext cx="292608" cy="292608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Alucinaciones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593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exacto de Firestore — sin estimaciones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959352"/>
            <a:ext cx="4114800" cy="594360"/>
          </a:xfrm>
          <a:prstGeom prst="ROUNDED_RECTANGLE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4114800"/>
            <a:ext cx="292608" cy="29260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Agnostico de Fuente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05840" y="4306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&gt; Monday &gt; SAP con la misma interfaz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3959352"/>
            <a:ext cx="4114800" cy="594360"/>
          </a:xfrm>
          <a:prstGeom prst="ROUNDED_RECTANGLE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83480" y="4114800"/>
            <a:ext cx="292608" cy="292608"/>
          </a:xfrm>
          <a:prstGeom prst="OVAL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Efimero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94960" y="4306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de capability se purga tras cada turno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Comparacion con el Estado del Arte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vs. las soluciones actuales de IA empresarial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240280" cy="530352"/>
          </a:xfrm>
          <a:prstGeom prst="ROUNDED_RECTANGLE">
            <a:avLst>
              <a:gd name="adj" fmla="val 6897"/>
            </a:avLst>
          </a:prstGeom>
          <a:solidFill>
            <a:srgbClr val="1A1A2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33856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88920" y="1115568"/>
            <a:ext cx="1371600" cy="530352"/>
          </a:xfrm>
          <a:prstGeom prst="ROUNDED_RECTANGLE">
            <a:avLst>
              <a:gd name="adj" fmla="val 6897"/>
            </a:avLst>
          </a:prstGeom>
          <a:solidFill>
            <a:srgbClr val="ED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133856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06240" y="1115568"/>
            <a:ext cx="1371600" cy="530352"/>
          </a:xfrm>
          <a:prstGeom prst="ROUNDED_RECTANGLE">
            <a:avLst>
              <a:gd name="adj" fmla="val 6897"/>
            </a:avLst>
          </a:prstGeom>
          <a:solidFill>
            <a:srgbClr val="ED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133856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1115568"/>
            <a:ext cx="1463040" cy="530352"/>
          </a:xfrm>
          <a:prstGeom prst="ROUNDED_RECTANGLE">
            <a:avLst>
              <a:gd name="adj" fmla="val 6897"/>
            </a:avLst>
          </a:prstGeom>
          <a:solidFill>
            <a:srgbClr val="ED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13385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0" y="1115568"/>
            <a:ext cx="1463040" cy="530352"/>
          </a:xfrm>
          <a:prstGeom prst="ROUNDED_RECTANGLE">
            <a:avLst>
              <a:gd name="adj" fmla="val 6897"/>
            </a:avLst>
          </a:prstGeom>
          <a:solidFill>
            <a:srgbClr val="2D7D9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13385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691640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1728216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Respuestas por rol (RBAC)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88920" y="1691640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43784" y="172821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1691640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1104" y="172821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691640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78424" y="1728216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0" y="1691640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1728216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Gateway completo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167128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2203704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en tiempo real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88920" y="2167128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3784" y="220370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2167128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61104" y="220370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23560" y="2167128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8424" y="22037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2167128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7184" y="22037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Capability Runtime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2642616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" y="267919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temporal del usuario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88920" y="2642616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43784" y="267919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2642616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61104" y="267919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23560" y="2642616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78424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32320" y="2642616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Grafo de Experiencia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3118104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1546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Politicas de comportamiento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88920" y="3118104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43784" y="3154680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3118104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61104" y="3154680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23560" y="3118104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78424" y="3154680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entrenamiento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32320" y="3118104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87184" y="3154680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CPE Score 0-1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" y="3593592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" y="363016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de objetivos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88920" y="3593592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43784" y="3630168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06240" y="3593592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61104" y="3630168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23560" y="3593592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78424" y="3630168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32320" y="3593592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87184" y="3630168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Maquina de Estado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02920" y="4069080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" y="4105656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Ecosistema de extensiones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88920" y="4069080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43784" y="410565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206240" y="4069080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61104" y="410565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623560" y="4069080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78424" y="4105656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132320" y="4069080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87184" y="4105656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SEE + RBAC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02920" y="4544568"/>
            <a:ext cx="224028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7784" y="4581144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de tokens adaptativa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788920" y="4544568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43784" y="458114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206240" y="4544568"/>
            <a:ext cx="137160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61104" y="458114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623560" y="4544568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78424" y="458114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132320" y="4544568"/>
            <a:ext cx="1463040" cy="420624"/>
          </a:xfrm>
          <a:prstGeom prst="ROUNDED_RECTANGLE">
            <a:avLst>
              <a:gd name="adj" fmla="val 8696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87184" y="458114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Inyeccion bajo demanda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Aprende SOFIAA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ciclo continuo de interaccion, contexto y refuerzo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566160" cy="1627632"/>
          </a:xfrm>
          <a:prstGeom prst="ROUNDED_RECTANGLE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Usuario Interactua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enriquece el Grafo de Experiencia. Se detectan topicos, extensiones activas y objetivos identificados.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566160" cy="1627632"/>
          </a:xfrm>
          <a:prstGeom prst="ROUNDED_RECTANGLE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66360" y="1371600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3898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Grafo se Actualiza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 de peso por topico visitado. Decaimiento temporal: 5%/dia. Nodos huerfanos podados al llegar a &lt;0.06.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3017520"/>
            <a:ext cx="3566160" cy="1627632"/>
          </a:xfrm>
          <a:prstGeom prst="ROUNDED_RECTANGLE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6360" y="3200400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32186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CPE Evalua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3703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Puntuacion post-stream de politicas. Las violaciones se registran en el Event Bus. Calidad clasificada: excelente/buena/aceptable/deficiente.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3566160" cy="1627632"/>
          </a:xfrm>
          <a:prstGeom prst="ROUNDED_RECTANGLE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00400"/>
            <a:ext cx="475488" cy="475488"/>
          </a:xfrm>
          <a:prstGeom prst="OVAL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2186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Contexto se Adapta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 turno: prompt del sistema mas rico. Afinidad con extension, progreso de objetivo y preferencias informan el tono y enfoque de SOFIAA.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7764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</a:rPr>
              <a:t>&gt;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5508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v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7764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</a:rPr>
              <a:t>&lt;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8308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^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Vision: AI Experience Middleware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como tejido conector de la empresa cognitiva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109728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rol. Cada necesidad.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0" y="173736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Movil · Voz · 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320040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Gemini · Cualquier LLM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384048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· Monday · SAP · REST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4526280"/>
            <a:ext cx="4937760" cy="530352"/>
          </a:xfrm>
          <a:prstGeom prst="ROUNDED_RECTANGLE">
            <a:avLst>
              <a:gd name="adj" fmla="val 13793"/>
            </a:avLst>
          </a:prstGeom>
          <a:solidFill>
            <a:srgbClr val="F8F7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4599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599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CPE · Auditoria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0" y="2377440"/>
            <a:ext cx="5486400" cy="658368"/>
          </a:xfrm>
          <a:prstGeom prst="ROUNDED_RECTANGLE">
            <a:avLst>
              <a:gd name="adj" fmla="val 16667"/>
            </a:avLst>
          </a:prstGeom>
          <a:solidFill>
            <a:srgbClr val="1A1A2E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24505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  ·  AI Experience Middleware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24871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Intencion · Politica · Contexto · Enrutamiento · Capacidad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80960" y="1097280"/>
            <a:ext cx="1234440" cy="3657600"/>
          </a:xfrm>
          <a:prstGeom prst="ROUNDED_RECTANGLE">
            <a:avLst>
              <a:gd name="adj" fmla="val 8889"/>
            </a:avLst>
          </a:prstGeom>
          <a:solidFill>
            <a:srgbClr val="F8F7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1887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26680" y="1783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Integracion SAP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26680" y="22037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Power BI Live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26680" y="26243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Interfaz de Voz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26680" y="30449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Multi-tenant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26680" y="34655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Capa Analytics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OVAL">
            <a:avLst/>
          </a:prstGeom>
          <a:solidFill>
            <a:srgbClr val="2D7D9A">
              <a:alpha val="10000"/>
            </a:srgbClr>
          </a:solidFill>
          <a:ln w="12700">
            <a:solidFill>
              <a:srgbClr val="2D7D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DOCTORAL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futuro de la IA empresarial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son modelos mas inteligentes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middleware mas inteligente.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demuestra que una arquitectura cognitiva en capas — que combina motores de politica, grafos de experiencia, maquinas de objetivo y runtimes de capacidades — puede transformar cualquier modelo de lenguaje en una inteligencia organizacional consciente del rol, a una fraccion del costo del fine-tuning.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 ·  AI Experience Middleware  ·  Junio 2026  ·  Confidencial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SOFIAA — Marco Doctoral de Inteligencia Cognitiva Empresarial</dc:title>
  <dc:subject>PptxGenJS Presentation</dc:subject>
  <dc:creator>SOFIAA Research</dc:creator>
  <cp:lastModifiedBy>SOFIAA Research</cp:lastModifiedBy>
  <cp:revision>1</cp:revision>
  <dcterms:created xsi:type="dcterms:W3CDTF">2026-06-28T21:00:39Z</dcterms:created>
  <dcterms:modified xsi:type="dcterms:W3CDTF">2026-06-28T21:00:39Z</dcterms:modified>
</cp:coreProperties>
</file>