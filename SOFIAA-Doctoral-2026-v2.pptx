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Complejidad por Sprint (1-10)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Complejidad Arquitectónica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72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S0-2</c:v>
                  </c:pt>
                  <c:pt idx="1">
                    <c:v>S3-7</c:v>
                  </c:pt>
                  <c:pt idx="2">
                    <c:v>Spr D</c:v>
                  </c:pt>
                  <c:pt idx="3">
                    <c:v>Spr E</c:v>
                  </c:pt>
                  <c:pt idx="4">
                    <c:v>Spr F</c:v>
                  </c:pt>
                  <c:pt idx="5">
                    <c:v>Spr G</c:v>
                  </c:pt>
                  <c:pt idx="6">
                    <c:v>Spr 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7.5</c:v>
                </c:pt>
                <c:pt idx="5">
                  <c:v>8.5</c:v>
                </c:pt>
                <c:pt idx="6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Distribución de Tareas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Tipo de tarea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0A5FA"/>
              </a:solidFill>
              <a:effectLst/>
            </c:spPr>
          </c:dPt>
          <c:dPt>
            <c:idx val="1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bubble3D val="0"/>
            <c:spPr>
              <a:solidFill>
                <a:srgbClr val="F472B6"/>
              </a:solidFill>
              <a:effectLst/>
            </c:spPr>
          </c:dPt>
          <c:dPt>
            <c:idx val="3"/>
            <c:bubble3D val="0"/>
            <c:spPr>
              <a:solidFill>
                <a:srgbClr val="34D3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Data Query</c:v>
                </c:pt>
                <c:pt idx="1">
                  <c:v>Conversacional</c:v>
                </c:pt>
                <c:pt idx="2">
                  <c:v>Navegación</c:v>
                </c:pt>
                <c:pt idx="3">
                  <c:v>Agente ReAct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35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CA3A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1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900" b="0" i="0" u="none" strike="noStrike">
                <a:solidFill>
                  <a:srgbClr val="E5E7EB"/>
                </a:solidFill>
                <a:latin typeface="Arial"/>
              </a:rPr>
              <a:t>Proyección de usuarios activos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Usuarios activos</c:v>
                </c:pt>
              </c:strCache>
            </c:strRef>
          </c:tx>
          <c:spPr>
            <a:solidFill>
              <a:srgbClr val="A855F7"/>
            </a:solidFill>
            <a:ln w="31750" cap="flat">
              <a:solidFill>
                <a:srgbClr val="A855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A855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55F7"/>
              </a:solidFill>
              <a:ln w="9525" cap="flat">
                <a:solidFill>
                  <a:srgbClr val="A855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Hoy</c:v>
                  </c:pt>
                  <c:pt idx="1">
                    <c:v>Spr I</c:v>
                  </c:pt>
                  <c:pt idx="2">
                    <c:v>Spr J</c:v>
                  </c:pt>
                  <c:pt idx="3">
                    <c:v>Spr K</c:v>
                  </c:pt>
                  <c:pt idx="4">
                    <c:v>Spr 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25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A855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oval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5486400" cy="3657600"/>
          </a:xfrm>
          <a:prstGeom prst="oval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743200"/>
            <a:ext cx="3657600" cy="2743200"/>
          </a:xfrm>
          <a:prstGeom prst="oval">
            <a:avLst/>
          </a:prstGeom>
          <a:solidFill>
            <a:srgbClr val="F472B6">
              <a:alpha val="9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DOCTORAL DE INVESTIGACIÓN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effectLst>
                  <a:glow rad="254000">
                    <a:srgbClr val="A855F7">
                      <a:alpha val="3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SOFIAA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05840" cy="5029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2331720"/>
            <a:ext cx="100584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6896" y="2331720"/>
            <a:ext cx="1005840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 Middleware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Repensando cómo las organizaciones aprenden, deciden y actúan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través de inteligencia artificial contextual — Sprints A→H completados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  ·  Versión 2.0  ·  Presentación Ejecutiva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oval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F472B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organizaciones se ahogan en datos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mueren de sed de sabiduría.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97480" cy="2651760"/>
          </a:xfrm>
          <a:prstGeom prst="roundRect">
            <a:avLst>
              <a:gd name="adj" fmla="val 4138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Existen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5786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Terabytes de datos operativos generados cada día — atrapados en silos, inaccesibles para quienes los necesitan.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97480" cy="2651760"/>
          </a:xfrm>
          <a:prstGeom prst="roundRect">
            <a:avLst>
              <a:gd name="adj" fmla="val 4138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Existen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5786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LLMs razonan a velocidad sobrehumana — pero operan sobre conocimiento estático, desconectados de la realidad.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2697480" cy="2651760"/>
          </a:xfrm>
          <a:prstGeom prst="roundRect">
            <a:avLst>
              <a:gd name="adj" fmla="val 4138"/>
            </a:avLst>
          </a:prstGeom>
          <a:solidFill>
            <a:srgbClr val="1F0A2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5352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25786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una capa inteligente que conecte datos empresariales en vivo, contexto por rol y lenguaje natural... hasta ahora.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926080"/>
            <a:ext cx="164592" cy="164592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oval">
            <a:avLst/>
          </a:prstGeom>
          <a:solidFill>
            <a:srgbClr val="60A5FA">
              <a:alpha val="9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60A5F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INVESTIGACIÓN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puede un sistema de IA adaptar conocimiento,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 e interfaz en tiempo real según el usuario?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627632"/>
            <a:ext cx="822960" cy="960120"/>
          </a:xfrm>
          <a:prstGeom prst="roundRect">
            <a:avLst>
              <a:gd name="adj" fmla="val 11111"/>
            </a:avLst>
          </a:prstGeom>
          <a:solidFill>
            <a:srgbClr val="1A1A35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21671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Razonamiento base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99616" y="1627632"/>
            <a:ext cx="1005840" cy="960120"/>
          </a:xfrm>
          <a:prstGeom prst="roundRect">
            <a:avLst>
              <a:gd name="adj" fmla="val 9524"/>
            </a:avLst>
          </a:prstGeom>
          <a:solidFill>
            <a:srgbClr val="1A1A35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99616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99616" y="2167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+ Ruta + Historia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9464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953512" y="1627632"/>
            <a:ext cx="822960" cy="960120"/>
          </a:xfrm>
          <a:prstGeom prst="roundRect">
            <a:avLst>
              <a:gd name="adj" fmla="val 11111"/>
            </a:avLst>
          </a:prstGeom>
          <a:solidFill>
            <a:srgbClr val="1A1A35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53512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53512" y="21671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CPE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224528" y="1627632"/>
            <a:ext cx="822960" cy="960120"/>
          </a:xfrm>
          <a:prstGeom prst="roundRect">
            <a:avLst>
              <a:gd name="adj" fmla="val 11111"/>
            </a:avLst>
          </a:prstGeom>
          <a:solidFill>
            <a:srgbClr val="1A1A35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24528" y="21671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Runtime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11496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95544" y="1627632"/>
            <a:ext cx="1005840" cy="960120"/>
          </a:xfrm>
          <a:prstGeom prst="roundRect">
            <a:avLst>
              <a:gd name="adj" fmla="val 9524"/>
            </a:avLst>
          </a:prstGeom>
          <a:solidFill>
            <a:srgbClr val="1A0A2E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95544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95544" y="2167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Cognitivo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2186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middleware cognitivo en capas — combinando motores de política, grafos de experiencia, máquinas de estado de objetivos, Agent Runtime ReAct y runtimes de capacidades — puede transformar cualquier LLM en una inteligencia organizacional consciente del rol.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Catálogo al Agente Cognitivo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fases de investigación — cada una extiende el middleware con nuevas capacidades cognitivas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8412480" cy="457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587752"/>
            <a:ext cx="210312" cy="210312"/>
          </a:xfrm>
          <a:prstGeom prst="oval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72768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367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S0–2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8562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JARVIS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5256" y="2377440"/>
            <a:ext cx="0" cy="320040"/>
          </a:xfrm>
          <a:prstGeom prst="line">
            <a:avLst/>
          </a:prstGeom>
          <a:noFill/>
          <a:ln w="12700">
            <a:solidFill>
              <a:srgbClr val="9CA3A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73936" y="2587752"/>
            <a:ext cx="210312" cy="210312"/>
          </a:xfrm>
          <a:prstGeom prst="oval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1328" y="2971800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81328" y="30358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S3–7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17904" y="32552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+ RBAC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Firebase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75104" y="2697480"/>
            <a:ext cx="0" cy="274320"/>
          </a:xfrm>
          <a:prstGeom prst="line">
            <a:avLst/>
          </a:prstGeom>
          <a:noFill/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43784" y="2587752"/>
            <a:ext cx="210312" cy="210312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1176" y="1572768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51176" y="16367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87752" y="18562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Cognitivos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44952" y="2377440"/>
            <a:ext cx="0" cy="320040"/>
          </a:xfrm>
          <a:prstGeom prst="line">
            <a:avLst/>
          </a:prstGeom>
          <a:noFill/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3632" y="2587752"/>
            <a:ext cx="210312" cy="210312"/>
          </a:xfrm>
          <a:prstGeom prst="oval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21024" y="2971800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30358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32552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0" y="2697480"/>
            <a:ext cx="0" cy="274320"/>
          </a:xfrm>
          <a:prstGeom prst="line">
            <a:avLst/>
          </a:prstGeom>
          <a:noFill/>
          <a:ln w="12700">
            <a:solidFill>
              <a:srgbClr val="F472B6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2587752"/>
            <a:ext cx="210312" cy="210312"/>
          </a:xfrm>
          <a:prstGeom prst="oval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0872" y="1572768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90872" y="16367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27448" y="18562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Observer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84648" y="2377440"/>
            <a:ext cx="0" cy="320040"/>
          </a:xfrm>
          <a:prstGeom prst="line">
            <a:avLst/>
          </a:prstGeom>
          <a:noFill/>
          <a:ln w="1270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2587752"/>
            <a:ext cx="210312" cy="210312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2971800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60720" y="30358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97296" y="32552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54496" y="2697480"/>
            <a:ext cx="0" cy="274320"/>
          </a:xfrm>
          <a:prstGeom prst="line">
            <a:avLst/>
          </a:prstGeom>
          <a:noFill/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23176" y="2587752"/>
            <a:ext cx="210312" cy="210312"/>
          </a:xfrm>
          <a:prstGeom prst="oval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30568" y="1572768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111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30568" y="16367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67144" y="18562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24344" y="2377440"/>
            <a:ext cx="0" cy="320040"/>
          </a:xfrm>
          <a:prstGeom prst="line">
            <a:avLst/>
          </a:prstGeom>
          <a:noFill/>
          <a:ln w="12700">
            <a:solidFill>
              <a:srgbClr val="EC4899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93024" y="2587752"/>
            <a:ext cx="210312" cy="210312"/>
          </a:xfrm>
          <a:prstGeom prst="oval">
            <a:avLst/>
          </a:prstGeom>
          <a:solidFill>
            <a:srgbClr val="5EEAD4">
              <a:alpha val="60000"/>
            </a:srgbClr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0416" y="2971800"/>
            <a:ext cx="987552" cy="804672"/>
          </a:xfrm>
          <a:prstGeom prst="roundRect">
            <a:avLst>
              <a:gd name="adj" fmla="val 11364"/>
            </a:avLst>
          </a:prstGeom>
          <a:solidFill>
            <a:srgbClr val="1A1A35">
              <a:alpha val="70000"/>
            </a:srgbClr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30358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36992" y="32552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N.O.R.A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próximo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394192" y="2697480"/>
            <a:ext cx="0" cy="274320"/>
          </a:xfrm>
          <a:prstGeom prst="line">
            <a:avLst/>
          </a:prstGeom>
          <a:noFill/>
          <a:ln w="12700">
            <a:solidFill>
              <a:srgbClr val="5EEAD4">
                <a:alpha val="50000"/>
              </a:srgbClr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583680" y="4434840"/>
            <a:ext cx="2103120" cy="365760"/>
          </a:xfrm>
          <a:prstGeom prst="roundRect">
            <a:avLst>
              <a:gd name="adj" fmla="val 37500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Sprints A-H completados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oval">
            <a:avLst/>
          </a:prstGeom>
          <a:solidFill>
            <a:srgbClr val="60A5FA">
              <a:alpha val="8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60A5F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Capas Cognitivas Integradas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1097280"/>
            <a:ext cx="36576" cy="320040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033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Adaptativa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27101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UI · Generative Cards · Onboarding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549908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6DD5FA">
              <a:alpha val="12000"/>
            </a:srgbClr>
          </a:solidFill>
          <a:ln w="12700">
            <a:solidFill>
              <a:srgbClr val="6DD5F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49908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D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" y="1641348"/>
            <a:ext cx="36576" cy="320040"/>
          </a:xfrm>
          <a:prstGeom prst="rect">
            <a:avLst/>
          </a:prstGeom>
          <a:solidFill>
            <a:srgbClr val="6DD5FA">
              <a:alpha val="60000"/>
            </a:srgbClr>
          </a:solidFill>
          <a:ln w="12700">
            <a:solidFill>
              <a:srgbClr val="6DD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5773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Orchestrator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181508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70B → Gemini Fallback · Streaming SSE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93976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93976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1248" y="2185416"/>
            <a:ext cx="36576" cy="320040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 ReAct ★ NEW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235915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act × 3 → synthesize · query_data · search_memory · analyze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38044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38044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2729484"/>
            <a:ext cx="36576" cy="320040"/>
          </a:xfrm>
          <a:prstGeom prst="rect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6654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Política Cognitiva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290322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Políticas · CPE Score 0-1 · Evaluación post-stream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182112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82112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" y="3273552"/>
            <a:ext cx="36576" cy="320040"/>
          </a:xfrm>
          <a:prstGeom prst="rect">
            <a:avLst/>
          </a:prstGeom>
          <a:solidFill>
            <a:srgbClr val="EC4899">
              <a:alpha val="6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209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Experiencia + Memoria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3447288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ponderados · Decaimiento 5%/día · Firestore dual-write ★ NEW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726180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26180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1248" y="3817620"/>
            <a:ext cx="36576" cy="32004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37536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 de Objetivos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0120" y="399135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multi-paso · sessionStorage · Detección automática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270248"/>
            <a:ext cx="8503920" cy="507492"/>
          </a:xfrm>
          <a:prstGeom prst="roundRect">
            <a:avLst>
              <a:gd name="adj" fmla="val 14414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70248"/>
            <a:ext cx="411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" y="4361688"/>
            <a:ext cx="36576" cy="320040"/>
          </a:xfrm>
          <a:prstGeom prst="rect">
            <a:avLst/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Runtime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0120" y="453542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en vivo · Gateway RBAC · Resumenes estructurados · BuscarRegistro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5486400" cy="5486400"/>
          </a:xfrm>
          <a:prstGeom prst="oval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A855F7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 — NUEVO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 ReAct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razonamiento iterativo — piensa, actúa y observa hasta sintetizar la respuesta correcta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el objetivo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planifica herramientas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9424" y="2395728"/>
            <a:ext cx="384048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2331720" y="141732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3172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herramienta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(query_data / analyze)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15384" y="2395728"/>
            <a:ext cx="384048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4297680" y="141732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9768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 resultado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actualiza contexto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81344" y="2395728"/>
            <a:ext cx="384048" cy="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6263640" y="141732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6364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converge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max 3 iteraciones · fallback si alcanza límite · Edge-safe 8s timeout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disponibles: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query_data → Firestore en vivo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search_memory → Contexto + Historial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analyze → Gemini 1.5 Flash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5486400" cy="5486400"/>
          </a:xfrm>
          <a:prstGeom prst="oval">
            <a:avLst/>
          </a:prstGeom>
          <a:solidFill>
            <a:srgbClr val="EC4899">
              <a:alpha val="9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EC4899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H — NUEVO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Intelligence Layer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SOFIAA ya no olvida — memoria a largo plazo multi-dispositivo y datos de pipeline en Firestore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H-1  agentMode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468880" cy="36576"/>
          </a:xfrm>
          <a:prstGeom prst="rect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Detección automática de consultas complejas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Patrones: analiza, compara, reporte ejecutivo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266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Activa ReAct para admin/director/vp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H-2  Memory Store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874520"/>
            <a:ext cx="2468880" cy="36576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65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Dual-write: localStorage + Firestore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4963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Sync al autenticarse — cross-device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30266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users/{uid}/memory/long_term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37160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H-3  Pipeline → Firestore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874520"/>
            <a:ext cx="2468880" cy="36576"/>
          </a:xfrm>
          <a:prstGeom prst="rect">
            <a:avLst/>
          </a:prstGeom>
          <a:solidFill>
            <a:srgbClr val="EC4899">
              <a:alpha val="4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65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Cada request → event en Firestore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24963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users/{uid}/pipeline_events/{id}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30266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Campo date para queries de N.O.R.A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Dual-Write: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→ localStorage (inmediato, sin latencia)  +  Firestore async (persistente, cross-device)  →  Lee siempre desde localStorage (ya sincronizado)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RUNTIME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Empresariales en Vivo — Sin Revelar la Fuente al LLM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9344" y="1664208"/>
            <a:ext cx="164592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open"/>
          </a:ln>
        </p:spPr>
      </p:sp>
      <p:sp>
        <p:nvSpPr>
          <p:cNvPr id="9" name="Shape 7"/>
          <p:cNvSpPr/>
          <p:nvPr/>
        </p:nvSpPr>
        <p:spPr>
          <a:xfrm>
            <a:off x="1783080" y="1188720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5623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463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18104" y="1664208"/>
            <a:ext cx="164592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  <a:tailEnd type="open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664208"/>
            <a:ext cx="164592" cy="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4800600" y="1188720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7375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463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1664208"/>
            <a:ext cx="164592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6309360" y="1188720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8251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1463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44384" y="1664208"/>
            <a:ext cx="164592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open"/>
          </a:ln>
        </p:spPr>
      </p:sp>
      <p:sp>
        <p:nvSpPr>
          <p:cNvPr id="25" name="Shape 23"/>
          <p:cNvSpPr/>
          <p:nvPr/>
        </p:nvSpPr>
        <p:spPr>
          <a:xfrm>
            <a:off x="7818120" y="1188720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9127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18120" y="1463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2316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6576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tokens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inyección JSON completa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242316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6888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5603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Alucinaciones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exacto de Firestore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42316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75488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soportadas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· Monday · SAP · REST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242316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694944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efímero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Purgado tras cada turno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79476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activas: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TEC BI: Empleados · Proveedores · Clientes · Briefs · Proyectos · Evaluaciones · Costos · ROI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4416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Marketing Sofia: Clientes · Métricas · Calendario · Finanzas  |  BuscarRegistro (admin) — cross-extension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572000" cy="4572000"/>
          </a:xfrm>
          <a:prstGeom prst="oval">
            <a:avLst/>
          </a:prstGeom>
          <a:solidFill>
            <a:srgbClr val="F472B6">
              <a:alpha val="8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FBBF2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DEL SISTEMA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de Medición de Inteligencia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444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CPE Policy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actual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tokens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JSON completo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62356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orquestador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0515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2606040"/>
          <a:ext cx="5029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5486400" y="2606040"/>
          <a:ext cx="33832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FBBF24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SOFIAA vs. Estado del Arte en IA Empresarial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1A1A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71216" y="105156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A1A35"/>
          </a:solidFill>
          <a:ln/>
        </p:spPr>
      </p:sp>
      <p:sp>
        <p:nvSpPr>
          <p:cNvPr id="8" name="Text 6"/>
          <p:cNvSpPr/>
          <p:nvPr/>
        </p:nvSpPr>
        <p:spPr>
          <a:xfrm>
            <a:off x="2871216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105156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A1A35"/>
          </a:solidFill>
          <a:ln/>
        </p:spPr>
      </p:sp>
      <p:sp>
        <p:nvSpPr>
          <p:cNvPr id="10" name="Text 8"/>
          <p:cNvSpPr/>
          <p:nvPr/>
        </p:nvSpPr>
        <p:spPr>
          <a:xfrm>
            <a:off x="4279392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96128" y="105156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A1A35"/>
          </a:solidFill>
          <a:ln/>
        </p:spPr>
      </p:sp>
      <p:sp>
        <p:nvSpPr>
          <p:cNvPr id="12" name="Text 10"/>
          <p:cNvSpPr/>
          <p:nvPr/>
        </p:nvSpPr>
        <p:spPr>
          <a:xfrm>
            <a:off x="5596128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12864" y="105156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912864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435608"/>
            <a:ext cx="256032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4356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por rol (RBAC)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71216" y="1435608"/>
            <a:ext cx="137160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18" name="Text 16"/>
          <p:cNvSpPr/>
          <p:nvPr/>
        </p:nvSpPr>
        <p:spPr>
          <a:xfrm>
            <a:off x="2916936" y="1435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79392" y="14356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20" name="Text 18"/>
          <p:cNvSpPr/>
          <p:nvPr/>
        </p:nvSpPr>
        <p:spPr>
          <a:xfrm>
            <a:off x="4325112" y="1435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96128" y="14356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22" name="Text 20"/>
          <p:cNvSpPr/>
          <p:nvPr/>
        </p:nvSpPr>
        <p:spPr>
          <a:xfrm>
            <a:off x="5641848" y="1435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12864" y="14356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24" name="Text 22"/>
          <p:cNvSpPr/>
          <p:nvPr/>
        </p:nvSpPr>
        <p:spPr>
          <a:xfrm>
            <a:off x="6958584" y="14356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Gateway completo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892808"/>
            <a:ext cx="256032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18928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tiempo real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71216" y="1892808"/>
            <a:ext cx="137160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28" name="Text 26"/>
          <p:cNvSpPr/>
          <p:nvPr/>
        </p:nvSpPr>
        <p:spPr>
          <a:xfrm>
            <a:off x="2916936" y="18928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79392" y="1892808"/>
            <a:ext cx="128016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30" name="Text 28"/>
          <p:cNvSpPr/>
          <p:nvPr/>
        </p:nvSpPr>
        <p:spPr>
          <a:xfrm>
            <a:off x="4325112" y="18928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96128" y="1892808"/>
            <a:ext cx="128016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32" name="Text 30"/>
          <p:cNvSpPr/>
          <p:nvPr/>
        </p:nvSpPr>
        <p:spPr>
          <a:xfrm>
            <a:off x="5641848" y="18928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12864" y="18928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1892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Capability Runtime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350008"/>
            <a:ext cx="256032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23500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temporal usuario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71216" y="2350008"/>
            <a:ext cx="137160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38" name="Text 36"/>
          <p:cNvSpPr/>
          <p:nvPr/>
        </p:nvSpPr>
        <p:spPr>
          <a:xfrm>
            <a:off x="2916936" y="23500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79392" y="23500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40" name="Text 38"/>
          <p:cNvSpPr/>
          <p:nvPr/>
        </p:nvSpPr>
        <p:spPr>
          <a:xfrm>
            <a:off x="4325112" y="23500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96128" y="23500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42" name="Text 40"/>
          <p:cNvSpPr/>
          <p:nvPr/>
        </p:nvSpPr>
        <p:spPr>
          <a:xfrm>
            <a:off x="5641848" y="23500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12864" y="23500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44" name="Text 42"/>
          <p:cNvSpPr/>
          <p:nvPr/>
        </p:nvSpPr>
        <p:spPr>
          <a:xfrm>
            <a:off x="6958584" y="23500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Grafo de Experiencia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807208"/>
            <a:ext cx="256032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28072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de comportamiento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71216" y="2807208"/>
            <a:ext cx="137160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48" name="Text 46"/>
          <p:cNvSpPr/>
          <p:nvPr/>
        </p:nvSpPr>
        <p:spPr>
          <a:xfrm>
            <a:off x="2916936" y="28072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79392" y="2807208"/>
            <a:ext cx="128016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50" name="Text 48"/>
          <p:cNvSpPr/>
          <p:nvPr/>
        </p:nvSpPr>
        <p:spPr>
          <a:xfrm>
            <a:off x="4325112" y="28072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96128" y="2807208"/>
            <a:ext cx="128016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52" name="Text 50"/>
          <p:cNvSpPr/>
          <p:nvPr/>
        </p:nvSpPr>
        <p:spPr>
          <a:xfrm>
            <a:off x="5641848" y="28072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12864" y="28072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54" name="Text 52"/>
          <p:cNvSpPr/>
          <p:nvPr/>
        </p:nvSpPr>
        <p:spPr>
          <a:xfrm>
            <a:off x="6958584" y="28072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CPE Score 0-1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3264408"/>
            <a:ext cx="256032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32644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 iterativo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871216" y="3264408"/>
            <a:ext cx="137160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58" name="Text 56"/>
          <p:cNvSpPr/>
          <p:nvPr/>
        </p:nvSpPr>
        <p:spPr>
          <a:xfrm>
            <a:off x="2916936" y="32644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79392" y="32644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60" name="Text 58"/>
          <p:cNvSpPr/>
          <p:nvPr/>
        </p:nvSpPr>
        <p:spPr>
          <a:xfrm>
            <a:off x="4325112" y="3264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96128" y="32644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62" name="Text 60"/>
          <p:cNvSpPr/>
          <p:nvPr/>
        </p:nvSpPr>
        <p:spPr>
          <a:xfrm>
            <a:off x="5641848" y="3264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12864" y="32644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64" name="Text 62"/>
          <p:cNvSpPr/>
          <p:nvPr/>
        </p:nvSpPr>
        <p:spPr>
          <a:xfrm>
            <a:off x="6958584" y="3264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ReAct 3-step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3721608"/>
            <a:ext cx="256032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66" name="Text 64"/>
          <p:cNvSpPr/>
          <p:nvPr/>
        </p:nvSpPr>
        <p:spPr>
          <a:xfrm>
            <a:off x="320040" y="37216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persistente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871216" y="3721608"/>
            <a:ext cx="137160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68" name="Text 66"/>
          <p:cNvSpPr/>
          <p:nvPr/>
        </p:nvSpPr>
        <p:spPr>
          <a:xfrm>
            <a:off x="2916936" y="3721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279392" y="3721608"/>
            <a:ext cx="128016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70" name="Text 68"/>
          <p:cNvSpPr/>
          <p:nvPr/>
        </p:nvSpPr>
        <p:spPr>
          <a:xfrm>
            <a:off x="4325112" y="3721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596128" y="3721608"/>
            <a:ext cx="1280160" cy="420624"/>
          </a:xfrm>
          <a:prstGeom prst="rect">
            <a:avLst/>
          </a:prstGeom>
          <a:solidFill>
            <a:srgbClr val="09090F"/>
          </a:solidFill>
          <a:ln/>
        </p:spPr>
      </p:sp>
      <p:sp>
        <p:nvSpPr>
          <p:cNvPr id="72" name="Text 70"/>
          <p:cNvSpPr/>
          <p:nvPr/>
        </p:nvSpPr>
        <p:spPr>
          <a:xfrm>
            <a:off x="5641848" y="3721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912864" y="37216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74" name="Text 72"/>
          <p:cNvSpPr/>
          <p:nvPr/>
        </p:nvSpPr>
        <p:spPr>
          <a:xfrm>
            <a:off x="6958584" y="37216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Dual-write Firestore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4178808"/>
            <a:ext cx="256032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76" name="Text 74"/>
          <p:cNvSpPr/>
          <p:nvPr/>
        </p:nvSpPr>
        <p:spPr>
          <a:xfrm>
            <a:off x="320040" y="41788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Analytics nativo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871216" y="4178808"/>
            <a:ext cx="137160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78" name="Text 76"/>
          <p:cNvSpPr/>
          <p:nvPr/>
        </p:nvSpPr>
        <p:spPr>
          <a:xfrm>
            <a:off x="2916936" y="41788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279392" y="41788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80" name="Text 78"/>
          <p:cNvSpPr/>
          <p:nvPr/>
        </p:nvSpPr>
        <p:spPr>
          <a:xfrm>
            <a:off x="4325112" y="41788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596128" y="4178808"/>
            <a:ext cx="1280160" cy="420624"/>
          </a:xfrm>
          <a:prstGeom prst="rect">
            <a:avLst/>
          </a:prstGeom>
          <a:solidFill>
            <a:srgbClr val="111127"/>
          </a:solidFill>
          <a:ln/>
        </p:spPr>
      </p:sp>
      <p:sp>
        <p:nvSpPr>
          <p:cNvPr id="82" name="Text 80"/>
          <p:cNvSpPr/>
          <p:nvPr/>
        </p:nvSpPr>
        <p:spPr>
          <a:xfrm>
            <a:off x="5641848" y="41788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912864" y="4178808"/>
            <a:ext cx="2103120" cy="420624"/>
          </a:xfrm>
          <a:prstGeom prst="rect">
            <a:avLst/>
          </a:prstGeom>
          <a:solidFill>
            <a:srgbClr val="0D1A2A"/>
          </a:solidFill>
          <a:ln/>
        </p:spPr>
      </p:sp>
      <p:sp>
        <p:nvSpPr>
          <p:cNvPr id="84" name="Text 82"/>
          <p:cNvSpPr/>
          <p:nvPr/>
        </p:nvSpPr>
        <p:spPr>
          <a:xfrm>
            <a:off x="6958584" y="4178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N.O.R.A ready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60A5F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TECNOLÓGICA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Contribuciones que Avanzan el Estado del Arte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2161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16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Datos Bajo Demanda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RAG, SOFIAA obtiene datos en vivo de Firestore solo cuando el LLM declara una Function Call. Efímero, controlado por rol, eficiente en tokens.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2487168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60A5FA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RAG: recuperación siempre activa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8032" y="12161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216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Experiencia Temporal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ponderado de preferencias que decae con el tiempo — modelando el olvido y reenfoque humano. Ningún framework LLM implementa decaimiento temporal.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28032" y="2487168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A855F7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Novedad: sin arte previo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227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 ReAct Edge-safe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ReAct (Reason+Act) con timeout de 8s, máx 3 iteraciones, streaming a cliente en tiempo real. 3 herramientas: query_data, search_memory, analyze.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" y="4498848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472B6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LangChain: Edge-native, sin servidor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3227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227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Observer → N.O.R.A Dataset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request genera un evento en Firestore con taskType, latencia, proveedor y fecha — construyendo el dataset que N.O.R.A necesita para aprender.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4498848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de comportamiento real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7315200" cy="7315200"/>
          </a:xfrm>
          <a:prstGeom prst="oval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050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-1828800"/>
            <a:ext cx="7315200" cy="7315200"/>
          </a:xfrm>
          <a:prstGeom prst="oval">
            <a:avLst/>
          </a:prstGeom>
          <a:solidFill>
            <a:srgbClr val="60A5FA">
              <a:alpha val="13000"/>
            </a:srgbClr>
          </a:solidFill>
          <a:ln w="12700">
            <a:solidFill>
              <a:srgbClr val="0505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828800"/>
            <a:ext cx="5486400" cy="5486400"/>
          </a:xfrm>
          <a:prstGeom prst="oval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0505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 — PRÓXIMO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effectLst>
                  <a:glow rad="317500">
                    <a:srgbClr val="A855F7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N.O.R.A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de Observación, Razonamiento y Aprendizaje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N.O.R.A es la capa de inteligencia emergente de SOFIAA — el sistema que aprende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patrones reales de uso, construye vectores de comportamiento y hace predicciones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operativas antes de que el usuario sepa que las necesita.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111127">
              <a:alpha val="70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BehaviorVector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 patrones semanales desde pipeline_events: taskType dominante, latencia, extensión preferida, hora pico.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297180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111127">
              <a:alpha val="7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continuo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794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evento acumulado en Firestore refina el perfil. Sin re-entrenamiento — inteligencia por observación.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297180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111127">
              <a:alpha val="70000"/>
            </a:srgbClr>
          </a:solidFill>
          <a:ln w="12700">
            <a:solidFill>
              <a:srgbClr val="F472B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Predicciones Proactivas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 necesidades: 'Notado que los lunes revisas KPIs — ¿te preparo el resumen?' Recomendaciones sin preguntar.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de activación: datos reales acumulados en pipeline_events · ya en producción con Sprint 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oval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Sprints — Hacia SOFIAA 2.0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216152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16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225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N.O.R.A 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BehaviorVector: computa patrones semanales desde pipeline_events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Análisis por taskType, latencia, extensión, hora pico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Endpoint /api/nora → responde consultas de comportamiento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Memory enrichment: añade BehaviorSummary al long_term memory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73752" y="1216152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60A5FA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216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J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26680" y="1225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73752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Proactivas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SOFIAA sugiere sin que el usuario pregunte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Trigger: horario, patrón de uso, objetivos recurrentes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Notificaciones push vía Firestore onSnapshot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Panel de recomendaciones en AdminPanel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3182112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A855F7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0" y="31912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8912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+ Onboarding IA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813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Soporte multi-organización — configuración por tenant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Onboarding conversacional adaptativo por rol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Exportación de BehaviorVectors para analytics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636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API pública: SOFIAA como servicio (SaaS ready)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0632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73752" y="3182112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472B6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26680" y="31912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73752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Mobile Native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813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Interfaz de voz: Web Speech API + síntesis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PWA optimizada para coordinadores en campo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Comandos de voz para Capability Runtime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4636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Sincronización offline-first con Workbox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7315200" cy="7315200"/>
          </a:xfrm>
          <a:prstGeom prst="oval">
            <a:avLst/>
          </a:prstGeom>
          <a:solidFill>
            <a:srgbClr val="5EEAD4">
              <a:alpha val="7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5EEA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POST-N.O.R.A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SOFIAA puede hacer cuando N.O.R.A está activa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— Sin N.O.R.A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N.O.R.A ACTIVA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11112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6304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Responde cuando el usuario pregunta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27432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4754880" y="1463040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0A1F1A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Sugiere antes de que pregunten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2140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Memoria genérica por usuario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395728"/>
            <a:ext cx="27432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4754880" y="2121408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0A1F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12140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BehaviorVector personalizado por patrón real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111127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77977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Routing fijo por proveedor LLM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054096"/>
            <a:ext cx="27432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4754880" y="2779776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0A1F1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77977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Routing predictivo según historial de latencia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43814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Pipeline data en silos de telemetría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3712464"/>
            <a:ext cx="27432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4754880" y="3438144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0A1F1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3814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Insights semanales automáticos al admin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111127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09651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Capabilites siempre disponibles igual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4370832"/>
            <a:ext cx="27432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4754880" y="4096512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0A1F1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409651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Capabilities priorizadas por uso real del 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N.O.R.A transforma SOFIAA de reactiva a proactiva — de herramienta a colega cognitivo.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oval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F472B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Social y Económico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155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$655K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IP total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estimaado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155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empresariales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155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ahorradas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semana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0" y="10515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1155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4944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 sin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adicional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2468880"/>
            <a:ext cx="347472" cy="347472"/>
          </a:xfrm>
          <a:prstGeom prst="oval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 del Conocimiento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283464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calidad de insight para cualquier rol — filtrado por alcance, no por rango jerárquico.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3317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64992" y="2468880"/>
            <a:ext cx="347472" cy="347472"/>
          </a:xfrm>
          <a:prstGeom prst="oval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Aumentación Cognitiva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283464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la fricción de encontrar, interpretar y contextualizar datos. Más tiempo decidiendo, menos buscando.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23317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91072" y="2468880"/>
            <a:ext cx="347472" cy="347472"/>
          </a:xfrm>
          <a:prstGeom prst="oval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Institucional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283464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Grafo de Experiencia captura patrones de interacción y objetivos — inteligencia organizacional que no se va.</a:t>
            </a:r>
            <a:endParaRPr lang="en-US" sz="9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274320" y="4114800"/>
          <a:ext cx="8595360" cy="896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FILOSOFÍA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Axiomas que Rigen Cada Decisión de Diseño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600200"/>
          </a:xfrm>
          <a:prstGeom prst="roundRect">
            <a:avLst>
              <a:gd name="adj" fmla="val 6857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61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no es Conocimiento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2514600" cy="36576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crudo se convierte en conocimiento solo cuando pasa por rol, contexto e intención. SOFIAA nunca expone datos crudos al LLM.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1600200"/>
          </a:xfrm>
          <a:prstGeom prst="roundRect">
            <a:avLst>
              <a:gd name="adj" fmla="val 6857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161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LLM es Razonador, no Almacén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481328"/>
            <a:ext cx="2514600" cy="36576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lenguaje es un motor de razonamiento. Los datos fluyen mediante canales verificados — nunca en prompts estáticos.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88920" cy="1600200"/>
          </a:xfrm>
          <a:prstGeom prst="roundRect">
            <a:avLst>
              <a:gd name="adj" fmla="val 6857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161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Experiencia debe Decaer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481328"/>
            <a:ext cx="2514600" cy="36576"/>
          </a:xfrm>
          <a:prstGeom prst="rect">
            <a:avLst/>
          </a:prstGeom>
          <a:solidFill>
            <a:srgbClr val="F472B6">
              <a:alpha val="3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señales de interés tienen peso temporal. +0.12 por interacción, decaimiento 5%/día. El grafo modela el olvido humano.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953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Acceso es un Derecho Gobernado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264408"/>
            <a:ext cx="3931920" cy="36576"/>
          </a:xfrm>
          <a:prstGeom prst="rect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558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capacidad está protegida por RBAC en el Gateway. El LLM nunca decide quién puede ver qué — la política lo decide.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83464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111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953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Turno Mejora el Sistema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264408"/>
            <a:ext cx="3931920" cy="36576"/>
          </a:xfrm>
          <a:prstGeom prst="rect">
            <a:avLst/>
          </a:prstGeom>
          <a:solidFill>
            <a:srgbClr val="34D399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3558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conversación actualiza el Grafo, informa al CPE y refina el perfil. N.O.R.A aprende de cada evento acumulado.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oval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050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914400"/>
            <a:ext cx="8229600" cy="8229600"/>
          </a:xfrm>
          <a:prstGeom prst="oval">
            <a:avLst/>
          </a:prstGeom>
          <a:solidFill>
            <a:srgbClr val="60A5FA">
              <a:alpha val="12000"/>
            </a:srgbClr>
          </a:solidFill>
          <a:ln w="12700">
            <a:solidFill>
              <a:srgbClr val="0505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5486400" cy="5486400"/>
          </a:xfrm>
          <a:prstGeom prst="oval">
            <a:avLst/>
          </a:prstGeom>
          <a:solidFill>
            <a:srgbClr val="F472B6">
              <a:alpha val="9000"/>
            </a:srgbClr>
          </a:solidFill>
          <a:ln w="12700">
            <a:solidFill>
              <a:srgbClr val="0505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TESIS DOCTORAL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glow rad="152400">
                    <a:srgbClr val="A855F7">
                      <a:alpha val="3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El futuro de la IA empresarial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glow rad="152400">
                    <a:srgbClr val="A855F7">
                      <a:alpha val="3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no son modelos más inteligentes —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glow rad="152400">
                    <a:srgbClr val="A855F7">
                      <a:alpha val="3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es un middleware más inteligente.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377440" y="2331720"/>
            <a:ext cx="77724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331720"/>
            <a:ext cx="777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331720"/>
            <a:ext cx="77724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2331720"/>
            <a:ext cx="777240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2331720"/>
            <a:ext cx="7772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146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SOFIAA demuestra que una arquitectura cognitiva en capas — motores de política, grafos de experiencia, máquinas de objetivo, Agent Runtime ReAct y runtimes de capacidades — puede transformar cualquier LLM en una inteligencia organizacional consciente del rol, a una fracción del costo del fine-tuning.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N.O.R.A, SOFIAA deja de ser reactiva para volverse proactiva — el primer AI Experience Middleware que aprende de su propia operación.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15968"/>
            <a:ext cx="1874520" cy="237744"/>
          </a:xfrm>
          <a:prstGeom prst="roundRect">
            <a:avLst>
              <a:gd name="adj" fmla="val 38462"/>
            </a:avLst>
          </a:prstGeom>
          <a:solidFill>
            <a:srgbClr val="60A5FA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315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UI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4315968"/>
            <a:ext cx="1874520" cy="237744"/>
          </a:xfrm>
          <a:prstGeom prst="roundRect">
            <a:avLst>
              <a:gd name="adj" fmla="val 38462"/>
            </a:avLst>
          </a:prstGeom>
          <a:solidFill>
            <a:srgbClr val="6DD5FA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4315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D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Orchestrator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26280" y="4315968"/>
            <a:ext cx="1874520" cy="237744"/>
          </a:xfrm>
          <a:prstGeom prst="roundRect">
            <a:avLst>
              <a:gd name="adj" fmla="val 38462"/>
            </a:avLst>
          </a:prstGeom>
          <a:solidFill>
            <a:srgbClr val="A855F7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315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Runtime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37960" y="4315968"/>
            <a:ext cx="1874520" cy="237744"/>
          </a:xfrm>
          <a:prstGeom prst="roundRect">
            <a:avLst>
              <a:gd name="adj" fmla="val 38462"/>
            </a:avLst>
          </a:prstGeom>
          <a:solidFill>
            <a:srgbClr val="F472B6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315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CPE Score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5840" y="4590288"/>
            <a:ext cx="2057400" cy="237744"/>
          </a:xfrm>
          <a:prstGeom prst="roundRect">
            <a:avLst>
              <a:gd name="adj" fmla="val 38462"/>
            </a:avLst>
          </a:prstGeom>
          <a:solidFill>
            <a:srgbClr val="EC4899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90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Graph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4590288"/>
            <a:ext cx="2057400" cy="237744"/>
          </a:xfrm>
          <a:prstGeom prst="roundRect">
            <a:avLst>
              <a:gd name="adj" fmla="val 38462"/>
            </a:avLst>
          </a:prstGeom>
          <a:solidFill>
            <a:srgbClr val="FBBF24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4590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Runtime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69280" y="4590288"/>
            <a:ext cx="2057400" cy="237744"/>
          </a:xfrm>
          <a:prstGeom prst="roundRect">
            <a:avLst>
              <a:gd name="adj" fmla="val 38462"/>
            </a:avLst>
          </a:prstGeom>
          <a:solidFill>
            <a:srgbClr val="34D399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4590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N.O.R.A Ready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SOFIAA  ·  AI Experience Middleware  ·  Julio 2026  · 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SOFIAA — Marco Doctoral 2026</dc:title>
  <dc:subject>PptxGenJS Presentation</dc:subject>
  <dc:creator>SOFIAA AI</dc:creator>
  <cp:lastModifiedBy>SOFIAA AI</cp:lastModifiedBy>
  <cp:revision>1</cp:revision>
  <dcterms:created xsi:type="dcterms:W3CDTF">2026-07-04T16:17:52Z</dcterms:created>
  <dcterms:modified xsi:type="dcterms:W3CDTF">2026-07-04T16:17:52Z</dcterms:modified>
</cp:coreProperties>
</file>