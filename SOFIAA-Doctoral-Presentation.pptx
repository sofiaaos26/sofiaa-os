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 Value (MXN $K)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7D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0A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Capability
Runtime</c:v>
                  </c:pt>
                  <c:pt idx="1">
                    <c:v>Extension
Ecosystem (SEE)</c:v>
                  </c:pt>
                  <c:pt idx="2">
                    <c:v>Cognitive
Policy Engine</c:v>
                  </c:pt>
                  <c:pt idx="3">
                    <c:v>Experience
Graph</c:v>
                  </c:pt>
                  <c:pt idx="4">
                    <c:v>LLM
Orchestrator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280</c:v>
                </c:pt>
                <c:pt idx="2">
                  <c:v>90</c:v>
                </c:pt>
                <c:pt idx="3">
                  <c:v>75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doctoral. SOFIAA comenzó como un catálogo interactivo y evolucionó hasta convertirse en un middleware de inteligencia cognitiva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central que SOFIAA resuelve: la brecha entre datos empresariales, modelos de lenguaje, y el usuario con rol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doctoral central de SOFIAA y su hipótesis de investigación.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Evolución de SOFIAA desde catálogo interactivo hasta middleware cognitivo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5 axiomas filosóficos que guían cada decisión de diseño en SOFIAA.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Misión y visión de SOFIAA como middleware cognitivo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6 capas de la arquitectura cognitiva de SOFIAA, de mayor a menor nivel de abstracción.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métricas principales inventadas para SOFIAA, no disponibles en ningún framework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económico cuantificado de SOFIAA a través de tres verticales empresariales.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innovaciones tecnológicas principales de SOFIAA que avanzan el estado del 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impacto social de SOFIAA: democratización del acceso al conocimiento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Capability Runtime Layer de Sprint E: cómo SOFIAA accede a datos en tiempo real sin exponer la fuente al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de SOFIAA con soluciones existentes de IA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de aprendizaje continuo de SOFIAA: interacción → grafo → evaluación → adaptación.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visión de SOFIAA como AI Experience Middleware — conectando personas, interfaces, modelos, datos y políticas.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doctoral: el tesis central de SOFIAA como contribución al campo de la inteligencia artificial empresarial.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OVAL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743200" cy="2743200"/>
          </a:xfrm>
          <a:prstGeom prst="OVAL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097280" cy="1097280"/>
          </a:xfrm>
          <a:prstGeom prst="OVAL">
            <a:avLst/>
          </a:prstGeom>
          <a:solidFill>
            <a:srgbClr val="2D7D9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560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RESEARCH FRAMEWORK ·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 Middleware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how organizations learn, decide, and act through contextual artificial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 Executive Briefing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463040"/>
          </a:xfrm>
          <a:prstGeom prst="ROUNDED_RECTANGLE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Organizations are drowning in data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yet starving for wisdom.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51760" cy="2240280"/>
          </a:xfrm>
          <a:prstGeom prst="ROUNDED_RECTANGLE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Exists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generate terabytes of operational data daily. It sits in siloed systems, inaccessible to the people who need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606040"/>
            <a:ext cx="2651760" cy="2240280"/>
          </a:xfrm>
          <a:prstGeom prst="ROUNDED_RECTANGLE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Exist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 reason at superhuman speed. Yet they operate on static knowledge, disconnected from live reality.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2651760" cy="2240280"/>
          </a:xfrm>
          <a:prstGeom prst="ROUNDED_RECTANGLE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intelligent layer connecting real-time enterprise data, role-based context, and natural human language — until now.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OUNDED_RECTANGL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an AI system </a:t>
            </a:r>
            <a:pPr indent="0" marL="0">
              <a:buNone/>
            </a:pPr>
            <a:r>
              <a:rPr lang="en-US" sz="22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 its knowledge, behavior, interface,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data access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real time — based 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user is, what they need,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where they are in the organization?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303520" cy="1097280"/>
          </a:xfrm>
          <a:prstGeom prst="ROUNDED_RECTANGLE">
            <a:avLst>
              <a:gd name="adj" fmla="val 10000"/>
            </a:avLst>
          </a:prstGeom>
          <a:solidFill>
            <a:srgbClr val="F0F9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cognitive middleware — combining policy engines, experience graphs, goal state machines, and capability runtimes — can transform a generic LLM into a role-aware organizational intelligence.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2834640" cy="4023360"/>
          </a:xfrm>
          <a:prstGeom prst="ROUNDED_RECTANGLE">
            <a:avLst>
              <a:gd name="adj" fmla="val 3871"/>
            </a:avLst>
          </a:prstGeom>
          <a:solidFill>
            <a:srgbClr val="1A1A2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1307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Reasoning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883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Path + History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185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Constraints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3090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78040" y="31181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Capability Runtime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721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Middleware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Catalog to Cognitive Middleware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SOFIAA across six research sprints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24912"/>
            <a:ext cx="82296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560320"/>
            <a:ext cx="329184" cy="329184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1600200" cy="1325880"/>
          </a:xfrm>
          <a:prstGeom prst="ROUNDED_RECTANGLE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600200" cy="1463040"/>
          </a:xfrm>
          <a:prstGeom prst="ROUNDED_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0779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product showcase with basic navigation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88336" y="2560320"/>
            <a:ext cx="329184" cy="329184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6272" y="1024128"/>
            <a:ext cx="1600200" cy="1325880"/>
          </a:xfrm>
          <a:prstGeom prst="ROUNDED_RECTANGLE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9424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9424" y="1389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76272" y="2834640"/>
            <a:ext cx="1600200" cy="1463040"/>
          </a:xfrm>
          <a:prstGeom prst="ROUNDED_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67712" y="290779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AI with guardrails, memory &amp; telemetry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2560320"/>
            <a:ext cx="329184" cy="329184"/>
          </a:xfrm>
          <a:prstGeom prst="OVAL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5344" y="1024128"/>
            <a:ext cx="1600200" cy="1325880"/>
          </a:xfrm>
          <a:prstGeom prst="ROUNDED_RECTANGLE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68496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1389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(SEE)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95344" y="2834640"/>
            <a:ext cx="1600200" cy="1463040"/>
          </a:xfrm>
          <a:prstGeom prst="ROUNDED_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86784" y="290779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enterprise extensions, RBAC, Firebase Auth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329184" cy="329184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024128"/>
            <a:ext cx="1600200" cy="1325880"/>
          </a:xfrm>
          <a:prstGeom prst="ROUNDED_RECTANGLE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87568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87568" y="1389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2834640"/>
            <a:ext cx="1600200" cy="1463040"/>
          </a:xfrm>
          <a:prstGeom prst="ROUNDED_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05856" y="290779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State · Intent UI · Policy Engine · Experience Graph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45552" y="2560320"/>
            <a:ext cx="329184" cy="329184"/>
          </a:xfrm>
          <a:prstGeom prst="OVAL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1024128"/>
            <a:ext cx="1600200" cy="1325880"/>
          </a:xfrm>
          <a:prstGeom prst="ROUNDED_RECTANGLE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06640" y="1389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33488" y="2834640"/>
            <a:ext cx="1600200" cy="1463040"/>
          </a:xfrm>
          <a:prstGeom prst="ROUNDED_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4928" y="290779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injection via role-aware tool calling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2724912"/>
            <a:ext cx="640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Philosophy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axioms that govern every design decision in SOFIAA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748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≠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becomes knowledge only when filtered through role, context, and intent. SOFIAA never exposes raw data to the LLM — only structured summaries.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9612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93008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as Reasoner, Not 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19751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is a reasoning engine, not a database. Live data flows in through verified capability channels — never baked into static prompts.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91656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94776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1656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Must Decay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19751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interest signals have temporal weight. What mattered last month matters less today. The Experience Graph applies 5%/day decay to keep signals fresh.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43000" y="3090672"/>
            <a:ext cx="329184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8016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is Role-Governed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89534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capability, extension, and data source is protected by RBAC at the gateway layer. The LLM never decides who can see what — the policy does.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090672"/>
            <a:ext cx="329184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Turn Improves the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89534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updates the Experience Graph, informs the CPE, and refines the user profile. The system becomes more intelligent with every interaction.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OVAL">
            <a:avLst/>
          </a:prstGeom>
          <a:solidFill>
            <a:srgbClr val="2D7D9A">
              <a:alpha val="12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OVAL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3429000"/>
          </a:xfrm>
          <a:prstGeom prst="ROUNDED_RECTANGLE">
            <a:avLst>
              <a:gd name="adj" fmla="val 3200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457200" cy="457200"/>
          </a:xfrm>
          <a:prstGeom prst="OVAL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024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organizational intelligence universally accessible — so that every person in an enterprise can ask any question, in natural language, and receive a precise, role-appropriate, real-time answer — without needing to know where the data lives.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3429000"/>
          </a:xfrm>
          <a:prstGeom prst="ROUNDED_RECTANGLE">
            <a:avLst>
              <a:gd name="adj" fmla="val 3200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005840"/>
            <a:ext cx="457200" cy="457200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24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024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57276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where artificial intelligence does not replace human judgment — it amplifies it. SOFIAA is the layer that connects people, data, models, and policies into a single coherent experience — the first AI Experience Middleware built for real enterprises.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are not building a chatbot. We are building the cognitive layer of the modern enterprise."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Cognitive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layers — each independently composable, collectively powerful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4A90A4">
              <a:alpha val="95000"/>
            </a:srgbClr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User Interface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2344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UI · Adaptive Components · Goal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7C3AED">
              <a:alpha val="7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653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Cognitive Policy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86537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Behavioral Policies · Post-stream Evaluation · CPE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1A1A2E">
              <a:alpha val="69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LLM Orchestrator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49631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Gemini Fallback · Multi-provider Routing · Streaming SSE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059669">
              <a:alpha val="61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27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Goal State Machine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1272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Goal Persistence · sessionStorage · Auto-detection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B45309">
              <a:alpha val="53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🕸  Experience Graph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581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Nodes · Temporal Decay · localStorage + Firestore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BE185D">
              <a:alpha val="45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  Capability Runtime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891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Firestore · RBAC Gateway · Structured Summaries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Metrics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instruments designed to measure intelligence quality — not just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Node Weight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71907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topic/extension affinity. +0.12 per interaction, 5%/day temporal decay, pruned at &lt;0.06 with &lt;2 hits.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CPE Policy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71907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for LLM response quality. Errors penalized 2×, violations tracked across 8 behavioral policy dimensions.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Token Efficiency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59359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 vs. full Firestore JSON injection. Structured summaries replace raw collections in the LLM context window.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Routing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59359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as primary, Gemini as fallback, Mock for testing. Automatic failover with latency-based selection.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 generation across three enterprise verticals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70432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2618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$655K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897880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223760" y="1353312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IP Value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89788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23760" y="2651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BI · JP Memorial · Marketing Sofia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3767328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38587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5897880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223760" y="395020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capability adds IP without rebuilding the core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Technological Innovation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contributions that advance the state of the 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35024"/>
            <a:ext cx="475488" cy="47548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335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Injection On-Demand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RAG (which retrieves static documents), SOFIAA fetches live Firestore data only when the LLM's Function Call declares it needs it. Ephemeral, role-gated, and token-efficient.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RAG: always-on retrieval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17043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335024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335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Experience Graph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7647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graph of user preferences and topic affinities that decays over time — modeling human forgetting and refocusing. No existing LLM framework implements temporal decay on user context.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no prior art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209544"/>
            <a:ext cx="475488" cy="475488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2095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Cognitive Policies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393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behavioral policies evaluated post-stream, scoring LLM responses on a 0–1 scale with error (2×) and warning weights. Enables auditable AI behavior at enterprise scale.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Constitutional AI: runtime, not training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304495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209544"/>
            <a:ext cx="475488" cy="47548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2095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Source-Agnostic Capability Runtime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6393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DataProvider interface abstracts Firestore, Monday.com, REST, and SAP behind a single execute() contract. The LLM never knows the data source — only receives structured capability results.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Tool Use: role-gated + summarized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OVAL">
            <a:avLst/>
          </a:prstGeom>
          <a:solidFill>
            <a:srgbClr val="2D7D9A">
              <a:alpha val="10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Democratizing Enterprise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Equity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enterprises, data access is a privilege of seniority. SOFIAA makes the same quality of insight available to every role — the analyst gets what the CFO gets, filtered by their scope.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664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38728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Augmentation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65176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does not replace human judgment — it removes the friction of finding, interpreting, and contextualizing data. Workers spend less time searching and more time deciding.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664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37376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37376" y="265176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lose critical knowledge when employees leave. The Experience Graph captures interaction patterns, goals, and domain focus — creating persistent organizational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Runtime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SOFIAA queries live enterprise data — without ever exposing the source to the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3192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18488" y="1874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64792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85416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37944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Function 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37944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capability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63240" y="1874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9544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82696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Gateway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2696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Audit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07992" y="1874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54296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27448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Provider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7448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— no listeners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52744" y="1874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9048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72200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97496" y="1874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64424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16952" y="18836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Response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16952" y="224942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answer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401568"/>
            <a:ext cx="292608" cy="29260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Efficiency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3593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reduction vs. JSON injection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246120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3401568"/>
            <a:ext cx="292608" cy="29260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Hallucinations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3593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Firestore data — no estimation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959352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4114800"/>
            <a:ext cx="292608" cy="29260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Agnostic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5840" y="4306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→ Monday → SAP with same interface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959352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83480" y="4114800"/>
            <a:ext cx="292608" cy="29260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Ephemeral Context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4306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block purged after each turn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vs. the current landscape of enterprise AI solutions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240280" cy="530352"/>
          </a:xfrm>
          <a:prstGeom prst="ROUNDED_RECTANGLE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33856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88920" y="1115568"/>
            <a:ext cx="137160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133856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115568"/>
            <a:ext cx="137160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133856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1115568"/>
            <a:ext cx="146304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13385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Fine-tune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1115568"/>
            <a:ext cx="1463040" cy="530352"/>
          </a:xfrm>
          <a:prstGeom prst="ROUNDED_RECTANGLE">
            <a:avLst>
              <a:gd name="adj" fmla="val 6897"/>
            </a:avLst>
          </a:prstGeom>
          <a:solidFill>
            <a:srgbClr val="2D7D9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3385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691640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72821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Role-aware responses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169164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172821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169164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72821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69164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78424" y="172821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169164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72821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RBAC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167128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220370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integration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88920" y="216712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220370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216712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1104" y="220370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216712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8424" y="22037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16712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22037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Capability Runtime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2642616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26791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user context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2642616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43784" y="267919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2642616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1104" y="267919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23560" y="2642616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32320" y="2642616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Experience Graph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3118104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1546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policies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88920" y="3118104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43784" y="31546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18104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61104" y="31546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23560" y="3118104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78424" y="315468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training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3118104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315468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CPE 0-1 Score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3593592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" y="363016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goal tracking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88920" y="3593592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43784" y="363016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06240" y="3593592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61104" y="363016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23560" y="3593592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78424" y="36301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3593592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7184" y="36301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Goal State Machine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" y="4069080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" y="410565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ecosystem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88920" y="406908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43784" y="41056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plugins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206240" y="406908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61104" y="41056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23560" y="406908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78424" y="410565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132320" y="406908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410565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SEE + RBAC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" y="4544568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" y="458114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efficiency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88920" y="454456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43784" y="458114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206240" y="454456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61104" y="458114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623560" y="454456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78424" y="458114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32320" y="454456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458114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On-demand injection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SOFIAA Learns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cycle of interaction, context, and reinforcement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 User Interacts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enriches the Experience Graph. Topics detected, extensions engaged, goals identified.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66360" y="13716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3716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🕸  Graph Updates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 weight per topic hit. Temporal decay: 5%/day. Orphan nodes pruned at &lt;0.06.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32004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CPE Evaluates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Post-stream policy scoring. Violations logged to Event Bus. Quality classified: excellent/good/acceptable/poor.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004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Context Adapts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turn: richer system prompt. Extension affinity, goal progress, and preferences inform SOFIAA's tone and focus.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7764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4652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84C"/>
                </a:solidFill>
              </a:rPr>
              <a:t>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7764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8308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84C"/>
                </a:solidFill>
              </a:rPr>
              <a:t>↑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Vision: AI Experience Middleware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as the connective tissue of the cognitive enterprise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10972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People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role. Every need.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Interfaces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Mobile · Voice ·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320040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Gemini · Any LLM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8404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 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· Monday · SAP · 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45262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 Policies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CPE · Audit · Compliance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0" y="2377440"/>
            <a:ext cx="5486400" cy="658368"/>
          </a:xfrm>
          <a:prstGeom prst="ROUNDED_RECTANGLE">
            <a:avLst>
              <a:gd name="adj" fmla="val 16667"/>
            </a:avLst>
          </a:prstGeom>
          <a:solidFill>
            <a:srgbClr val="1A1A2E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24505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 SOFIAA Middleware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4871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Policy · Context · Routing · Capability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1097280"/>
            <a:ext cx="1234440" cy="3657600"/>
          </a:xfrm>
          <a:prstGeom prst="ROUNDED_RECTANGLE">
            <a:avLst>
              <a:gd name="adj" fmla="val 8889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18872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26680" y="1783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SAP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26680" y="22037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PowerBI Live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26680" y="26243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Interface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26680" y="3044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26680" y="34655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Layer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OVAL">
            <a:avLst/>
          </a:prstGeom>
          <a:solidFill>
            <a:srgbClr val="2D7D9A">
              <a:alpha val="10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enterprise AI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smarter models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smarter middleware.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demonstrates that a layered cognitive architecture — combining policy engines, experience graphs, goal machines, and capability runtimes — can transform any language model into a role-aware, data-grounded organizational intelligence, at a fraction of the cost of model fine-tuning.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 ·  AI Experience Middleware  · 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SOFIAA — AI Experience Middleware: Una Perspectiva Doctoral</dc:title>
  <dc:subject>PptxGenJS Presentation</dc:subject>
  <dc:creator>SOFIAA Research</dc:creator>
  <cp:lastModifiedBy>SOFIAA Research</cp:lastModifiedBy>
  <cp:revision>1</cp:revision>
  <dcterms:created xsi:type="dcterms:W3CDTF">2026-06-28T20:43:31Z</dcterms:created>
  <dcterms:modified xsi:type="dcterms:W3CDTF">2026-06-28T20:43:31Z</dcterms:modified>
</cp:coreProperties>
</file>